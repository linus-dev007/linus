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1"/>
    <p:sldMasterId id="2147483660" r:id="rId2"/>
  </p:sldMasterIdLst>
  <p:notesMasterIdLst>
    <p:notesMasterId r:id="rId20"/>
  </p:notes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Lst>
  <p:sldSz cx="9144000" cy="5143500" type="screen16x9"/>
  <p:notesSz cx="6858000" cy="9144000"/>
  <p:defaultTextStyle>
    <a:defPPr marR="0" lvl="0" algn="l" rtl="0">
      <a:lnSpc>
        <a:spcPct val="100000"/>
      </a:lnSpc>
      <a:spcBef>
        <a:spcPts val="0"/>
      </a:spcBef>
      <a:spcAft>
        <a:spcPts val="0"/>
      </a:spcAft>
    </a:defPPr>
    <a:lvl1pPr marL="0"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L="457200"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L="914400"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L="1371600"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L="1828800"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L="2286000"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L="2743200"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L="3200400"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L="3657600"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24476"/>
    <a:srgbClr val="09224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22" d="100"/>
          <a:sy n="122" d="100"/>
        </p:scale>
        <p:origin x="60" y="116"/>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3" Type="http://schemas.openxmlformats.org/officeDocument/2006/relationships/slide" Target="slides/slide1.xml"/><Relationship Id="rId21" Type="http://schemas.openxmlformats.org/officeDocument/2006/relationships/presProps" Target="presProp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tableStyles" Target="tableStyle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theme" Target="theme/theme1.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30.05.2026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latin typeface="Arial"/>
                <a:ea typeface="Arial"/>
                <a:cs typeface="Arial"/>
                <a:sym typeface="Arial"/>
              </a:rPr>
              <a:t>Good morning, everyone. I am Linus Vincent Rozario, a Computer Technology major. Today, I am thrilled to present my graduation internship project: LMS Pro. This is not just another learning management system; it's a next-generation architecture designed to redefine how we interact with educational technology. Over the next few minutes, I will walk you through the strategic engineering, the advanced architecture, and the practical implementation of this platform. Let's begin.</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p>
        </p:txBody>
      </p:sp>
    </p:spTree>
    <p:extLst>
      <p:ext uri="{BB962C8B-B14F-4D97-AF65-F5344CB8AC3E}">
        <p14:creationId xmlns:p14="http://schemas.microsoft.com/office/powerpoint/2010/main" val="1379008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latin typeface="Arial"/>
                <a:ea typeface="Arial"/>
                <a:cs typeface="Arial"/>
                <a:sym typeface="Arial"/>
              </a:rPr>
              <a:t>First, let's define the scope of this internship. The core vision was to bridge the gap between theoretical computer science and real-world, agile full-stack production pipelines. The operational goal was to design a clean, fast, and secure multi-role web platform, optimized for low-latency environments. This project was not just about building an application; it was about engineering a solution that meets enterprise standards of performance and security.</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p>
        </p:txBody>
      </p:sp>
    </p:spTree>
    <p:extLst>
      <p:ext uri="{BB962C8B-B14F-4D97-AF65-F5344CB8AC3E}">
        <p14:creationId xmlns:p14="http://schemas.microsoft.com/office/powerpoint/2010/main" val="52280544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latin typeface="Arial"/>
                <a:ea typeface="Arial"/>
                <a:cs typeface="Arial"/>
                <a:sym typeface="Arial"/>
              </a:rPr>
              <a:t>The LMS Pro is built around a multi-tenant ecosystem, ensuring complete workspace isolation. We have three distinct nodes: the Admin Node for system governance, the Teacher Hub for academic management, and the Student Panel for the learning experience. Each node is designed with specific functionalities to cater to the unique needs of its user role, creating a seamless and secure environment for all stakeholders.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p>
        </p:txBody>
      </p:sp>
    </p:spTree>
    <p:extLst>
      <p:ext uri="{BB962C8B-B14F-4D97-AF65-F5344CB8AC3E}">
        <p14:creationId xmlns:p14="http://schemas.microsoft.com/office/powerpoint/2010/main" val="219744373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latin typeface="Arial"/>
                <a:ea typeface="Arial"/>
                <a:cs typeface="Arial"/>
                <a:sym typeface="Arial"/>
              </a:rPr>
              <a:t>Now, let's dive into the technological foundation of LMS Pro. The architecture is a carefully selected matrix of modern technologies, each chosen for its specific strength. From the frontend to the database, every layer is designed for performance, maintainability, and scalability. This is the engine that powers the entire platform.</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p>
        </p:txBody>
      </p:sp>
    </p:spTree>
    <p:extLst>
      <p:ext uri="{BB962C8B-B14F-4D97-AF65-F5344CB8AC3E}">
        <p14:creationId xmlns:p14="http://schemas.microsoft.com/office/powerpoint/2010/main" val="80288464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latin typeface="Arial"/>
                <a:ea typeface="Arial"/>
                <a:cs typeface="Arial"/>
                <a:sym typeface="Arial"/>
              </a:rPr>
              <a:t>Breaking it down, the Frontend Layer uses HTML5 and Tailwind CSS for a clean, responsive design. The State Engine is powered by TypeScript for dynamic and secure interactions. The backend Logic Routing is handled by a Python framework, ensuring robust request handling. Finally, the Storage Core is an embedded SQLite database, providing reliable and fast data transactions. This stack ensures a robust and efficient application.</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p>
        </p:txBody>
      </p:sp>
    </p:spTree>
    <p:extLst>
      <p:ext uri="{BB962C8B-B14F-4D97-AF65-F5344CB8AC3E}">
        <p14:creationId xmlns:p14="http://schemas.microsoft.com/office/powerpoint/2010/main" val="41318241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latin typeface="Arial"/>
                <a:ea typeface="Arial"/>
                <a:cs typeface="Arial"/>
                <a:sym typeface="Arial"/>
              </a:rPr>
              <a:t>The development of LMS Pro followed a rigorous 11-week sprint cycle. This timeline was crucial for managing the project efficiently and ensuring all milestones were met. Let's take a look at how the project evolved from the initial database setup to the final codebase handover.</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p>
        </p:txBody>
      </p:sp>
    </p:spTree>
    <p:extLst>
      <p:ext uri="{BB962C8B-B14F-4D97-AF65-F5344CB8AC3E}">
        <p14:creationId xmlns:p14="http://schemas.microsoft.com/office/powerpoint/2010/main" val="137087323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latin typeface="Arial"/>
                <a:ea typeface="Arial"/>
                <a:cs typeface="Arial"/>
                <a:sym typeface="Arial"/>
              </a:rPr>
              <a:t>Security is paramount. The access verification architecture features a fortified login system with real-time validation. As you can see from the screenshots, the login and registration flows are designed to be both secure and user-friendly. The Role-Based Access Control, or RBAC, is implemented at the database level, ensuring that user roles are strictly enforced from the moment an account is created.</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p>
        </p:txBody>
      </p:sp>
    </p:spTree>
    <p:extLst>
      <p:ext uri="{BB962C8B-B14F-4D97-AF65-F5344CB8AC3E}">
        <p14:creationId xmlns:p14="http://schemas.microsoft.com/office/powerpoint/2010/main" val="80029168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8333"/>
              </a:lnSpc>
            </a:pPr>
            <a:r>
              <a:rPr lang="en-US" sz="1300" b="0" i="0" u="none" strike="noStrike">
                <a:solidFill>
                  <a:srgbClr val="092241"/>
                </a:solidFill>
                <a:latin typeface="Noto Sans SC"/>
                <a:ea typeface="Noto Sans SC"/>
                <a:cs typeface="Noto Sans SC"/>
                <a:sym typeface="Noto Sans SC"/>
              </a:rPr>
              <a:t>The frontend user experience is centered around a dynamic course discovery interface. Using a card-based layout, students can easily browse and enroll in courses. The design leverages Tailwind CSS's responsive capabilities to ensure a seamless experience on any device. The screenshots show both the admin's course management view and the student's browsing experience, highlighting the intuitive and responsive design.</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p>
        </p:txBody>
      </p:sp>
    </p:spTree>
    <p:extLst>
      <p:ext uri="{BB962C8B-B14F-4D97-AF65-F5344CB8AC3E}">
        <p14:creationId xmlns:p14="http://schemas.microsoft.com/office/powerpoint/2010/main" val="19083203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dirty="0">
                <a:solidFill>
                  <a:srgbClr val="000000"/>
                </a:solidFill>
                <a:latin typeface="Arial"/>
                <a:ea typeface="Arial"/>
                <a:cs typeface="Arial"/>
                <a:sym typeface="Arial"/>
              </a:rPr>
              <a:t>Once enrolled, students enter a dedicated course workspace. The framework supports complex course structures with a clean navigation hierarchy. The persistent sidebar keeps essential tools and resources accessible, while the main content area delivers the learning materials. This structure ensures that content delivery is efficient and the academic mapping is clear for the learner.</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p>
        </p:txBody>
      </p:sp>
    </p:spTree>
    <p:extLst>
      <p:ext uri="{BB962C8B-B14F-4D97-AF65-F5344CB8AC3E}">
        <p14:creationId xmlns:p14="http://schemas.microsoft.com/office/powerpoint/2010/main" val="240602870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dirty="0">
                <a:solidFill>
                  <a:srgbClr val="000000"/>
                </a:solidFill>
                <a:latin typeface="Arial"/>
                <a:ea typeface="Arial"/>
                <a:cs typeface="Arial"/>
                <a:sym typeface="Arial"/>
              </a:rPr>
              <a:t>To enhance the learning experience, we've integrated a Student Analytics Engine. This engine provides real-time telemetry on learning progress, such as course completion rates and engagement metrics. Although the screenshot shows a loading state, the final implementation includes dynamic visual indicators and live badges, empowering both students and teachers with valuable insights into academic performance.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p>
        </p:txBody>
      </p:sp>
    </p:spTree>
    <p:extLst>
      <p:ext uri="{BB962C8B-B14F-4D97-AF65-F5344CB8AC3E}">
        <p14:creationId xmlns:p14="http://schemas.microsoft.com/office/powerpoint/2010/main" val="90069600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latin typeface="Arial"/>
                <a:ea typeface="Arial"/>
                <a:cs typeface="Arial"/>
                <a:sym typeface="Arial"/>
              </a:rPr>
              <a:t>For educators, the platform offers a powerful Control Center. This dashboard provides a high-level overview of key metrics like total courses, active students, and pending submissions. The layout is designed for efficiency, with quick-action buttons that allow teachers to manage their courses and student grades with minimal clicks. This is the command center for academic administration.</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p>
        </p:txBody>
      </p:sp>
    </p:spTree>
    <p:extLst>
      <p:ext uri="{BB962C8B-B14F-4D97-AF65-F5344CB8AC3E}">
        <p14:creationId xmlns:p14="http://schemas.microsoft.com/office/powerpoint/2010/main" val="195159745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latin typeface="Arial"/>
                <a:ea typeface="Arial"/>
                <a:cs typeface="Arial"/>
                <a:sym typeface="Arial"/>
              </a:rPr>
              <a:t>Communication is key in any learning environment. LMS Pro features an asynchronous communication hub. This system allows for real-time messaging between users without requiring a page refresh, creating a smooth and responsive chat experience. The UI design uses color contrast to clearly distinguish between sent and received messages, enhancing readability and user experience.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p>
        </p:txBody>
      </p:sp>
    </p:spTree>
    <p:extLst>
      <p:ext uri="{BB962C8B-B14F-4D97-AF65-F5344CB8AC3E}">
        <p14:creationId xmlns:p14="http://schemas.microsoft.com/office/powerpoint/2010/main" val="369043333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latin typeface="Arial"/>
                <a:ea typeface="Arial"/>
                <a:cs typeface="Arial"/>
                <a:sym typeface="Arial"/>
              </a:rPr>
              <a:t>At the highest level, the Admin Dashboard serves as the centralized governance infrastructure. It provides a bird's-eye view of the entire system, including real-time health checks for the database and WebSocket server. Administrators can perform global actions like generating reports and clearing cache, ensuring the platform runs smoothly and securely at all times.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p>
        </p:txBody>
      </p:sp>
    </p:spTree>
    <p:extLst>
      <p:ext uri="{BB962C8B-B14F-4D97-AF65-F5344CB8AC3E}">
        <p14:creationId xmlns:p14="http://schemas.microsoft.com/office/powerpoint/2010/main" val="255746188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latin typeface="Arial"/>
                <a:ea typeface="Arial"/>
                <a:cs typeface="Arial"/>
                <a:sym typeface="Arial"/>
              </a:rPr>
              <a:t>The user management portal is a critical component of the admin interface. It displays a comprehensive, searchable grid of all user accounts, showing their roles and statuses. Administrators have inline controls to update or delete entries, ensuring efficient and secure management of the user base. This portal is a testament to the power of the underlying relational database structure.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p>
        </p:txBody>
      </p:sp>
    </p:spTree>
    <p:extLst>
      <p:ext uri="{BB962C8B-B14F-4D97-AF65-F5344CB8AC3E}">
        <p14:creationId xmlns:p14="http://schemas.microsoft.com/office/powerpoint/2010/main" val="296603879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dirty="0">
                <a:solidFill>
                  <a:srgbClr val="000000"/>
                </a:solidFill>
                <a:latin typeface="Arial"/>
                <a:ea typeface="Arial"/>
                <a:cs typeface="Arial"/>
                <a:sym typeface="Arial"/>
              </a:rPr>
              <a:t>No project is without its challenges. During development, we encountered two key issues. First, layout shifts (CLS) caused by dynamic content loading. We resolved this by defining fixed minimum heights for content containers. Second, text overflow in chat windows. This was fixed using CSS </a:t>
            </a:r>
            <a:r>
              <a:rPr lang="en-US" sz="1400" b="0" i="0" u="none" strike="noStrike" dirty="0" err="1">
                <a:solidFill>
                  <a:srgbClr val="000000"/>
                </a:solidFill>
                <a:latin typeface="Arial"/>
                <a:ea typeface="Arial"/>
                <a:cs typeface="Arial"/>
                <a:sym typeface="Arial"/>
              </a:rPr>
              <a:t>flexbox</a:t>
            </a:r>
            <a:r>
              <a:rPr lang="en-US" sz="1400" b="0" i="0" u="none" strike="noStrike" dirty="0">
                <a:solidFill>
                  <a:srgbClr val="000000"/>
                </a:solidFill>
                <a:latin typeface="Arial"/>
                <a:ea typeface="Arial"/>
                <a:cs typeface="Arial"/>
                <a:sym typeface="Arial"/>
              </a:rPr>
              <a:t> and word-break properties to ensure text wraps correctly. These solutions demonstrate the importance of meticulous frontend engineering.</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p>
        </p:txBody>
      </p:sp>
    </p:spTree>
    <p:extLst>
      <p:ext uri="{BB962C8B-B14F-4D97-AF65-F5344CB8AC3E}">
        <p14:creationId xmlns:p14="http://schemas.microsoft.com/office/powerpoint/2010/main" val="365108602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latin typeface="Arial"/>
                <a:ea typeface="Arial"/>
                <a:cs typeface="Arial"/>
                <a:sym typeface="Arial"/>
              </a:rPr>
              <a:t>In conclusion, this project successfully delivered a robust, multi-role learning management system. It stands as proof that full-stack excellence is achieved through the seamless integration of a stable relational database and a highly responsive user interface. For future work, I suggest integrating more advanced data visualization and exploring a client-server architecture for greater scalability. This internship has been an invaluable experience, bridging academia and enterprise practice.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p>
        </p:txBody>
      </p:sp>
    </p:spTree>
    <p:extLst>
      <p:ext uri="{BB962C8B-B14F-4D97-AF65-F5344CB8AC3E}">
        <p14:creationId xmlns:p14="http://schemas.microsoft.com/office/powerpoint/2010/main" val="128033003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8333"/>
              </a:lnSpc>
            </a:pPr>
            <a:r>
              <a:rPr lang="en-US" sz="1400" b="0" i="0" u="none" strike="noStrike">
                <a:solidFill>
                  <a:srgbClr val="374151"/>
                </a:solidFill>
                <a:latin typeface="Noto Sans SC"/>
                <a:ea typeface="Noto Sans SC"/>
                <a:cs typeface="Noto Sans SC"/>
                <a:sym typeface="Noto Sans SC"/>
              </a:rPr>
              <a:t>Thank you for your time and attention. I am now ready to answer any questions you may have about the LMS Pro project, its architecture, or the development process.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p>
        </p:txBody>
      </p:sp>
    </p:spTree>
    <p:extLst>
      <p:ext uri="{BB962C8B-B14F-4D97-AF65-F5344CB8AC3E}">
        <p14:creationId xmlns:p14="http://schemas.microsoft.com/office/powerpoint/2010/main" val="94170388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标题幻灯片" type="title">
  <p:cSld name="TITLE">
    <p:spTree>
      <p:nvGrpSpPr>
        <p:cNvPr id="1" name="Shape 11"/>
        <p:cNvGrpSpPr/>
        <p:nvPr/>
      </p:nvGrpSpPr>
      <p:grpSpPr>
        <a:xfrm>
          <a:off x="0" y="0"/>
          <a:ext cx="0" cy="0"/>
          <a:chOff x="0" y="0"/>
          <a:chExt cx="0" cy="0"/>
        </a:xfrm>
      </p:grpSpPr>
      <p:sp>
        <p:nvSpPr>
          <p:cNvPr id="12" name="Shape 30"/>
          <p:cNvSpPr txBox="1">
            <a:spLocks noGrp="1"/>
          </p:cNvSpPr>
          <p:nvPr>
            <p:ph type="ctrTitle"/>
          </p:nvPr>
        </p:nvSpPr>
        <p:spPr>
          <a:xfrm>
            <a:off x="1143000" y="841772"/>
            <a:ext cx="6858000" cy="1790700"/>
          </a:xfrm>
          <a:prstGeom prst="rect">
            <a:avLst/>
          </a:prstGeom>
          <a:noFill/>
          <a:ln>
            <a:noFill/>
          </a:ln>
        </p:spPr>
        <p:txBody>
          <a:bodyPr spcFirstLastPara="1" wrap="square" lIns="68575" tIns="34275" rIns="68575" bIns="34275" anchor="b" anchorCtr="0">
            <a:normAutofit/>
          </a:bodyPr>
          <a:lstStyle>
            <a:lvl1pPr lvl="0" algn="ctr">
              <a:lnSpc>
                <a:spcPct val="90000"/>
              </a:lnSpc>
              <a:spcBef>
                <a:spcPts val="0"/>
              </a:spcBef>
              <a:spcAft>
                <a:spcPts val="0"/>
              </a:spcAft>
              <a:buClr>
                <a:schemeClr val="dk1"/>
              </a:buClr>
              <a:buSzPts val="4500"/>
              <a:buFont typeface="Arial"/>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13" name="Shape 31"/>
          <p:cNvSpPr txBox="1">
            <a:spLocks noGrp="1"/>
          </p:cNvSpPr>
          <p:nvPr>
            <p:ph type="subTitle" idx="1"/>
          </p:nvPr>
        </p:nvSpPr>
        <p:spPr>
          <a:xfrm>
            <a:off x="1143000" y="2701528"/>
            <a:ext cx="6858000" cy="1241821"/>
          </a:xfrm>
          <a:prstGeom prst="rect">
            <a:avLst/>
          </a:prstGeom>
          <a:noFill/>
          <a:ln>
            <a:noFill/>
          </a:ln>
        </p:spPr>
        <p:txBody>
          <a:bodyPr spcFirstLastPara="1" wrap="square" lIns="68575" tIns="34275" rIns="68575" bIns="34275" anchor="t" anchorCtr="0">
            <a:normAutofit/>
          </a:bodyPr>
          <a:lstStyle>
            <a:lvl1pPr lvl="0" algn="ctr">
              <a:lnSpc>
                <a:spcPct val="90000"/>
              </a:lnSpc>
              <a:spcBef>
                <a:spcPts val="800"/>
              </a:spcBef>
              <a:spcAft>
                <a:spcPts val="0"/>
              </a:spcAft>
              <a:buClr>
                <a:schemeClr val="dk1"/>
              </a:buClr>
              <a:buSzPts val="1800"/>
              <a:buNone/>
              <a:defRPr sz="1800"/>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a:endParaRPr/>
          </a:p>
        </p:txBody>
      </p:sp>
      <p:sp>
        <p:nvSpPr>
          <p:cNvPr id="14" name="Shape 32"/>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5" name="Shape 33"/>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6" name="Shape 34"/>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标题和内容" type="obj">
  <p:cSld name="OBJECT">
    <p:spTree>
      <p:nvGrpSpPr>
        <p:cNvPr id="1" name="Shape 17"/>
        <p:cNvGrpSpPr/>
        <p:nvPr/>
      </p:nvGrpSpPr>
      <p:grpSpPr>
        <a:xfrm>
          <a:off x="0" y="0"/>
          <a:ext cx="0" cy="0"/>
          <a:chOff x="0" y="0"/>
          <a:chExt cx="0" cy="0"/>
        </a:xfrm>
      </p:grpSpPr>
      <p:sp>
        <p:nvSpPr>
          <p:cNvPr id="18" name="Shape 54"/>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19" name="Shape 55"/>
          <p:cNvSpPr txBox="1">
            <a:spLocks noGrp="1"/>
          </p:cNvSpPr>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20" name="Shape 56"/>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1" name="Shape 57"/>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2" name="Shape 58"/>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节标题" type="secHead">
  <p:cSld name="SECTION_HEADER">
    <p:spTree>
      <p:nvGrpSpPr>
        <p:cNvPr id="1" name="Shape 23"/>
        <p:cNvGrpSpPr/>
        <p:nvPr/>
      </p:nvGrpSpPr>
      <p:grpSpPr>
        <a:xfrm>
          <a:off x="0" y="0"/>
          <a:ext cx="0" cy="0"/>
          <a:chOff x="0" y="0"/>
          <a:chExt cx="0" cy="0"/>
        </a:xfrm>
      </p:grpSpPr>
      <p:sp>
        <p:nvSpPr>
          <p:cNvPr id="24" name="Shape 59"/>
          <p:cNvSpPr txBox="1">
            <a:spLocks noGrp="1"/>
          </p:cNvSpPr>
          <p:nvPr>
            <p:ph type="title"/>
          </p:nvPr>
        </p:nvSpPr>
        <p:spPr>
          <a:xfrm>
            <a:off x="623888" y="1282304"/>
            <a:ext cx="7886700" cy="2139553"/>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4500"/>
              <a:buFont typeface="Arial"/>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25" name="Shape 60"/>
          <p:cNvSpPr txBox="1">
            <a:spLocks noGrp="1"/>
          </p:cNvSpPr>
          <p:nvPr>
            <p:ph type="body" idx="1"/>
          </p:nvPr>
        </p:nvSpPr>
        <p:spPr>
          <a:xfrm>
            <a:off x="623888" y="3442097"/>
            <a:ext cx="7886700" cy="1125140"/>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rgbClr val="888888"/>
              </a:buClr>
              <a:buSzPts val="1800"/>
              <a:buNone/>
              <a:defRPr sz="1800">
                <a:solidFill>
                  <a:srgbClr val="888888"/>
                </a:solidFill>
              </a:defRPr>
            </a:lvl1pPr>
            <a:lvl2pPr marL="914400" lvl="1" indent="-228600" algn="l">
              <a:lnSpc>
                <a:spcPct val="90000"/>
              </a:lnSpc>
              <a:spcBef>
                <a:spcPts val="400"/>
              </a:spcBef>
              <a:spcAft>
                <a:spcPts val="0"/>
              </a:spcAft>
              <a:buClr>
                <a:srgbClr val="888888"/>
              </a:buClr>
              <a:buSzPts val="1500"/>
              <a:buNone/>
              <a:defRPr sz="1500">
                <a:solidFill>
                  <a:srgbClr val="888888"/>
                </a:solidFill>
              </a:defRPr>
            </a:lvl2pPr>
            <a:lvl3pPr marL="1371600" lvl="2" indent="-228600" algn="l">
              <a:lnSpc>
                <a:spcPct val="90000"/>
              </a:lnSpc>
              <a:spcBef>
                <a:spcPts val="400"/>
              </a:spcBef>
              <a:spcAft>
                <a:spcPts val="0"/>
              </a:spcAft>
              <a:buClr>
                <a:srgbClr val="888888"/>
              </a:buClr>
              <a:buSzPts val="1400"/>
              <a:buNone/>
              <a:defRPr sz="1400">
                <a:solidFill>
                  <a:srgbClr val="888888"/>
                </a:solidFill>
              </a:defRPr>
            </a:lvl3pPr>
            <a:lvl4pPr marL="1828800" lvl="3" indent="-228600" algn="l">
              <a:lnSpc>
                <a:spcPct val="90000"/>
              </a:lnSpc>
              <a:spcBef>
                <a:spcPts val="400"/>
              </a:spcBef>
              <a:spcAft>
                <a:spcPts val="0"/>
              </a:spcAft>
              <a:buClr>
                <a:srgbClr val="888888"/>
              </a:buClr>
              <a:buSzPts val="1200"/>
              <a:buNone/>
              <a:defRPr sz="1200">
                <a:solidFill>
                  <a:srgbClr val="888888"/>
                </a:solidFill>
              </a:defRPr>
            </a:lvl4pPr>
            <a:lvl5pPr marL="2286000" lvl="4" indent="-228600" algn="l">
              <a:lnSpc>
                <a:spcPct val="90000"/>
              </a:lnSpc>
              <a:spcBef>
                <a:spcPts val="400"/>
              </a:spcBef>
              <a:spcAft>
                <a:spcPts val="0"/>
              </a:spcAft>
              <a:buClr>
                <a:srgbClr val="888888"/>
              </a:buClr>
              <a:buSzPts val="1200"/>
              <a:buNone/>
              <a:defRPr sz="1200">
                <a:solidFill>
                  <a:srgbClr val="888888"/>
                </a:solidFill>
              </a:defRPr>
            </a:lvl5pPr>
            <a:lvl6pPr marL="2743200" lvl="5" indent="-228600" algn="l">
              <a:lnSpc>
                <a:spcPct val="90000"/>
              </a:lnSpc>
              <a:spcBef>
                <a:spcPts val="400"/>
              </a:spcBef>
              <a:spcAft>
                <a:spcPts val="0"/>
              </a:spcAft>
              <a:buClr>
                <a:srgbClr val="888888"/>
              </a:buClr>
              <a:buSzPts val="1200"/>
              <a:buNone/>
              <a:defRPr sz="1200">
                <a:solidFill>
                  <a:srgbClr val="888888"/>
                </a:solidFill>
              </a:defRPr>
            </a:lvl6pPr>
            <a:lvl7pPr marL="3200400" lvl="6" indent="-228600" algn="l">
              <a:lnSpc>
                <a:spcPct val="90000"/>
              </a:lnSpc>
              <a:spcBef>
                <a:spcPts val="400"/>
              </a:spcBef>
              <a:spcAft>
                <a:spcPts val="0"/>
              </a:spcAft>
              <a:buClr>
                <a:srgbClr val="888888"/>
              </a:buClr>
              <a:buSzPts val="1200"/>
              <a:buNone/>
              <a:defRPr sz="1200">
                <a:solidFill>
                  <a:srgbClr val="888888"/>
                </a:solidFill>
              </a:defRPr>
            </a:lvl7pPr>
            <a:lvl8pPr marL="3657600" lvl="7" indent="-228600" algn="l">
              <a:lnSpc>
                <a:spcPct val="90000"/>
              </a:lnSpc>
              <a:spcBef>
                <a:spcPts val="400"/>
              </a:spcBef>
              <a:spcAft>
                <a:spcPts val="0"/>
              </a:spcAft>
              <a:buClr>
                <a:srgbClr val="888888"/>
              </a:buClr>
              <a:buSzPts val="1200"/>
              <a:buNone/>
              <a:defRPr sz="1200">
                <a:solidFill>
                  <a:srgbClr val="888888"/>
                </a:solidFill>
              </a:defRPr>
            </a:lvl8pPr>
            <a:lvl9pPr marL="4114800" lvl="8" indent="-228600" algn="l">
              <a:lnSpc>
                <a:spcPct val="90000"/>
              </a:lnSpc>
              <a:spcBef>
                <a:spcPts val="400"/>
              </a:spcBef>
              <a:spcAft>
                <a:spcPts val="0"/>
              </a:spcAft>
              <a:buClr>
                <a:srgbClr val="888888"/>
              </a:buClr>
              <a:buSzPts val="1200"/>
              <a:buNone/>
              <a:defRPr sz="1200">
                <a:solidFill>
                  <a:srgbClr val="888888"/>
                </a:solidFill>
              </a:defRPr>
            </a:lvl9pPr>
          </a:lstStyle>
          <a:p>
            <a:endParaRPr/>
          </a:p>
        </p:txBody>
      </p:sp>
      <p:sp>
        <p:nvSpPr>
          <p:cNvPr id="26" name="Shape 61"/>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7" name="Shape 62"/>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8" name="Shape 63"/>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两栏内容" type="twoObj">
  <p:cSld name="TWO_OBJECTS">
    <p:spTree>
      <p:nvGrpSpPr>
        <p:cNvPr id="1" name="Shape 29"/>
        <p:cNvGrpSpPr/>
        <p:nvPr/>
      </p:nvGrpSpPr>
      <p:grpSpPr>
        <a:xfrm>
          <a:off x="0" y="0"/>
          <a:ext cx="0" cy="0"/>
          <a:chOff x="0" y="0"/>
          <a:chExt cx="0" cy="0"/>
        </a:xfrm>
      </p:grpSpPr>
      <p:sp>
        <p:nvSpPr>
          <p:cNvPr id="30" name="Shape 9"/>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31" name="Shape 10"/>
          <p:cNvSpPr txBox="1">
            <a:spLocks noGrp="1"/>
          </p:cNvSpPr>
          <p:nvPr>
            <p:ph type="body" idx="1"/>
          </p:nvPr>
        </p:nvSpPr>
        <p:spPr>
          <a:xfrm>
            <a:off x="6286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32" name="Shape 11"/>
          <p:cNvSpPr txBox="1">
            <a:spLocks noGrp="1"/>
          </p:cNvSpPr>
          <p:nvPr>
            <p:ph type="body" idx="2"/>
          </p:nvPr>
        </p:nvSpPr>
        <p:spPr>
          <a:xfrm>
            <a:off x="46291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33" name="Shape 12"/>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34" name="Shape 13"/>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35" name="Shape 14"/>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比较" type="twoTxTwoObj">
  <p:cSld name="TWO_OBJECTS_WITH_TEXT">
    <p:spTree>
      <p:nvGrpSpPr>
        <p:cNvPr id="1" name="Shape 36"/>
        <p:cNvGrpSpPr/>
        <p:nvPr/>
      </p:nvGrpSpPr>
      <p:grpSpPr>
        <a:xfrm>
          <a:off x="0" y="0"/>
          <a:ext cx="0" cy="0"/>
          <a:chOff x="0" y="0"/>
          <a:chExt cx="0" cy="0"/>
        </a:xfrm>
      </p:grpSpPr>
      <p:sp>
        <p:nvSpPr>
          <p:cNvPr id="37" name="Shape 35"/>
          <p:cNvSpPr txBox="1">
            <a:spLocks noGrp="1"/>
          </p:cNvSpPr>
          <p:nvPr>
            <p:ph type="title"/>
          </p:nvPr>
        </p:nvSpPr>
        <p:spPr>
          <a:xfrm>
            <a:off x="629841"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38" name="Shape 36"/>
          <p:cNvSpPr txBox="1">
            <a:spLocks noGrp="1"/>
          </p:cNvSpPr>
          <p:nvPr>
            <p:ph type="body" idx="1"/>
          </p:nvPr>
        </p:nvSpPr>
        <p:spPr>
          <a:xfrm>
            <a:off x="629841" y="1260872"/>
            <a:ext cx="3868340"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a:endParaRPr/>
          </a:p>
        </p:txBody>
      </p:sp>
      <p:sp>
        <p:nvSpPr>
          <p:cNvPr id="39" name="Shape 37"/>
          <p:cNvSpPr txBox="1">
            <a:spLocks noGrp="1"/>
          </p:cNvSpPr>
          <p:nvPr>
            <p:ph type="body" idx="2"/>
          </p:nvPr>
        </p:nvSpPr>
        <p:spPr>
          <a:xfrm>
            <a:off x="629841" y="1878806"/>
            <a:ext cx="3868340"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40" name="Shape 38"/>
          <p:cNvSpPr txBox="1">
            <a:spLocks noGrp="1"/>
          </p:cNvSpPr>
          <p:nvPr>
            <p:ph type="body" idx="3"/>
          </p:nvPr>
        </p:nvSpPr>
        <p:spPr>
          <a:xfrm>
            <a:off x="4629150" y="1260872"/>
            <a:ext cx="3887391"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a:endParaRPr/>
          </a:p>
        </p:txBody>
      </p:sp>
      <p:sp>
        <p:nvSpPr>
          <p:cNvPr id="41" name="Shape 39"/>
          <p:cNvSpPr txBox="1">
            <a:spLocks noGrp="1"/>
          </p:cNvSpPr>
          <p:nvPr>
            <p:ph type="body" idx="4"/>
          </p:nvPr>
        </p:nvSpPr>
        <p:spPr>
          <a:xfrm>
            <a:off x="4629150" y="1878806"/>
            <a:ext cx="3887391"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42" name="Shape 40"/>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3" name="Shape 41"/>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4" name="Shape 42"/>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仅标题" type="titleOnly">
  <p:cSld name="TITLE_ONLY">
    <p:spTree>
      <p:nvGrpSpPr>
        <p:cNvPr id="1" name="Shape 45"/>
        <p:cNvGrpSpPr/>
        <p:nvPr/>
      </p:nvGrpSpPr>
      <p:grpSpPr>
        <a:xfrm>
          <a:off x="0" y="0"/>
          <a:ext cx="0" cy="0"/>
          <a:chOff x="0" y="0"/>
          <a:chExt cx="0" cy="0"/>
        </a:xfrm>
      </p:grpSpPr>
      <p:sp>
        <p:nvSpPr>
          <p:cNvPr id="46" name="Shape 20"/>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47" name="Shape 21"/>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8" name="Shape 22"/>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9" name="Shape 23"/>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空白" type="blank">
  <p:cSld name="BLANK">
    <p:spTree>
      <p:nvGrpSpPr>
        <p:cNvPr id="1" name="Shape 50"/>
        <p:cNvGrpSpPr/>
        <p:nvPr/>
      </p:nvGrpSpPr>
      <p:grpSpPr>
        <a:xfrm>
          <a:off x="0" y="0"/>
          <a:ext cx="0" cy="0"/>
          <a:chOff x="0" y="0"/>
          <a:chExt cx="0" cy="0"/>
        </a:xfrm>
      </p:grpSpPr>
      <p:sp>
        <p:nvSpPr>
          <p:cNvPr id="51" name="Shape 6"/>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52" name="Shape 7"/>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53" name="Shape 8"/>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内容与标题" type="objTx">
  <p:cSld name="OBJECT_WITH_CAPTION_TEXT">
    <p:spTree>
      <p:nvGrpSpPr>
        <p:cNvPr id="1" name="Shape 54"/>
        <p:cNvGrpSpPr/>
        <p:nvPr/>
      </p:nvGrpSpPr>
      <p:grpSpPr>
        <a:xfrm>
          <a:off x="0" y="0"/>
          <a:ext cx="0" cy="0"/>
          <a:chOff x="0" y="0"/>
          <a:chExt cx="0" cy="0"/>
        </a:xfrm>
      </p:grpSpPr>
      <p:sp>
        <p:nvSpPr>
          <p:cNvPr id="55" name="Shape 43"/>
          <p:cNvSpPr txBox="1">
            <a:spLocks noGrp="1"/>
          </p:cNvSpPr>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56" name="Shape 44"/>
          <p:cNvSpPr txBox="1">
            <a:spLocks noGrp="1"/>
          </p:cNvSpPr>
          <p:nvPr>
            <p:ph type="body" idx="1"/>
          </p:nvPr>
        </p:nvSpPr>
        <p:spPr>
          <a:xfrm>
            <a:off x="3887391" y="740569"/>
            <a:ext cx="4629150" cy="3655219"/>
          </a:xfrm>
          <a:prstGeom prst="rect">
            <a:avLst/>
          </a:prstGeom>
          <a:noFill/>
          <a:ln>
            <a:noFill/>
          </a:ln>
        </p:spPr>
        <p:txBody>
          <a:bodyPr spcFirstLastPara="1" wrap="square" lIns="68575" tIns="34275" rIns="68575" bIns="34275" anchor="t" anchorCtr="0">
            <a:normAutofit/>
          </a:bodyPr>
          <a:lstStyle>
            <a:lvl1pPr marL="457200" lvl="0" indent="-381000" algn="l">
              <a:lnSpc>
                <a:spcPct val="90000"/>
              </a:lnSpc>
              <a:spcBef>
                <a:spcPts val="800"/>
              </a:spcBef>
              <a:spcAft>
                <a:spcPts val="0"/>
              </a:spcAft>
              <a:buClr>
                <a:schemeClr val="dk1"/>
              </a:buClr>
              <a:buSzPts val="2400"/>
              <a:buChar char="•"/>
              <a:defRPr sz="2400"/>
            </a:lvl1pPr>
            <a:lvl2pPr marL="914400" lvl="1" indent="-361950" algn="l">
              <a:lnSpc>
                <a:spcPct val="90000"/>
              </a:lnSpc>
              <a:spcBef>
                <a:spcPts val="400"/>
              </a:spcBef>
              <a:spcAft>
                <a:spcPts val="0"/>
              </a:spcAft>
              <a:buClr>
                <a:schemeClr val="dk1"/>
              </a:buClr>
              <a:buSzPts val="2100"/>
              <a:buChar char="•"/>
              <a:defRPr sz="2100"/>
            </a:lvl2pPr>
            <a:lvl3pPr marL="1371600" lvl="2" indent="-342900" algn="l">
              <a:lnSpc>
                <a:spcPct val="90000"/>
              </a:lnSpc>
              <a:spcBef>
                <a:spcPts val="400"/>
              </a:spcBef>
              <a:spcAft>
                <a:spcPts val="0"/>
              </a:spcAft>
              <a:buClr>
                <a:schemeClr val="dk1"/>
              </a:buClr>
              <a:buSzPts val="1800"/>
              <a:buChar char="•"/>
              <a:defRPr sz="1800"/>
            </a:lvl3pPr>
            <a:lvl4pPr marL="1828800" lvl="3" indent="-323850" algn="l">
              <a:lnSpc>
                <a:spcPct val="90000"/>
              </a:lnSpc>
              <a:spcBef>
                <a:spcPts val="400"/>
              </a:spcBef>
              <a:spcAft>
                <a:spcPts val="0"/>
              </a:spcAft>
              <a:buClr>
                <a:schemeClr val="dk1"/>
              </a:buClr>
              <a:buSzPts val="1500"/>
              <a:buChar char="•"/>
              <a:defRPr sz="1500"/>
            </a:lvl4pPr>
            <a:lvl5pPr marL="2286000" lvl="4" indent="-323850" algn="l">
              <a:lnSpc>
                <a:spcPct val="90000"/>
              </a:lnSpc>
              <a:spcBef>
                <a:spcPts val="400"/>
              </a:spcBef>
              <a:spcAft>
                <a:spcPts val="0"/>
              </a:spcAft>
              <a:buClr>
                <a:schemeClr val="dk1"/>
              </a:buClr>
              <a:buSzPts val="1500"/>
              <a:buChar char="•"/>
              <a:defRPr sz="1500"/>
            </a:lvl5pPr>
            <a:lvl6pPr marL="2743200" lvl="5" indent="-323850" algn="l">
              <a:lnSpc>
                <a:spcPct val="90000"/>
              </a:lnSpc>
              <a:spcBef>
                <a:spcPts val="400"/>
              </a:spcBef>
              <a:spcAft>
                <a:spcPts val="0"/>
              </a:spcAft>
              <a:buClr>
                <a:schemeClr val="dk1"/>
              </a:buClr>
              <a:buSzPts val="1500"/>
              <a:buChar char="•"/>
              <a:defRPr sz="1500"/>
            </a:lvl6pPr>
            <a:lvl7pPr marL="3200400" lvl="6" indent="-323850" algn="l">
              <a:lnSpc>
                <a:spcPct val="90000"/>
              </a:lnSpc>
              <a:spcBef>
                <a:spcPts val="400"/>
              </a:spcBef>
              <a:spcAft>
                <a:spcPts val="0"/>
              </a:spcAft>
              <a:buClr>
                <a:schemeClr val="dk1"/>
              </a:buClr>
              <a:buSzPts val="1500"/>
              <a:buChar char="•"/>
              <a:defRPr sz="1500"/>
            </a:lvl7pPr>
            <a:lvl8pPr marL="3657600" lvl="7" indent="-323850" algn="l">
              <a:lnSpc>
                <a:spcPct val="90000"/>
              </a:lnSpc>
              <a:spcBef>
                <a:spcPts val="400"/>
              </a:spcBef>
              <a:spcAft>
                <a:spcPts val="0"/>
              </a:spcAft>
              <a:buClr>
                <a:schemeClr val="dk1"/>
              </a:buClr>
              <a:buSzPts val="1500"/>
              <a:buChar char="•"/>
              <a:defRPr sz="1500"/>
            </a:lvl8pPr>
            <a:lvl9pPr marL="4114800" lvl="8" indent="-323850" algn="l">
              <a:lnSpc>
                <a:spcPct val="90000"/>
              </a:lnSpc>
              <a:spcBef>
                <a:spcPts val="400"/>
              </a:spcBef>
              <a:spcAft>
                <a:spcPts val="0"/>
              </a:spcAft>
              <a:buClr>
                <a:schemeClr val="dk1"/>
              </a:buClr>
              <a:buSzPts val="1500"/>
              <a:buChar char="•"/>
              <a:defRPr sz="1500"/>
            </a:lvl9pPr>
          </a:lstStyle>
          <a:p>
            <a:endParaRPr/>
          </a:p>
        </p:txBody>
      </p:sp>
      <p:sp>
        <p:nvSpPr>
          <p:cNvPr id="57" name="Shape 45"/>
          <p:cNvSpPr txBox="1">
            <a:spLocks noGrp="1"/>
          </p:cNvSpPr>
          <p:nvPr>
            <p:ph type="body" idx="2"/>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a:endParaRPr/>
          </a:p>
        </p:txBody>
      </p:sp>
      <p:sp>
        <p:nvSpPr>
          <p:cNvPr id="58" name="Shape 46"/>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59" name="Shape 47"/>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60" name="Shape 48"/>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图片与标题" type="picTx">
  <p:cSld name="PICTURE_WITH_CAPTION_TEXT">
    <p:spTree>
      <p:nvGrpSpPr>
        <p:cNvPr id="1" name="Shape 61"/>
        <p:cNvGrpSpPr/>
        <p:nvPr/>
      </p:nvGrpSpPr>
      <p:grpSpPr>
        <a:xfrm>
          <a:off x="0" y="0"/>
          <a:ext cx="0" cy="0"/>
          <a:chOff x="0" y="0"/>
          <a:chExt cx="0" cy="0"/>
        </a:xfrm>
      </p:grpSpPr>
      <p:sp>
        <p:nvSpPr>
          <p:cNvPr id="62" name="Shape 24"/>
          <p:cNvSpPr txBox="1">
            <a:spLocks noGrp="1"/>
          </p:cNvSpPr>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63" name="Shape 25"/>
          <p:cNvSpPr>
            <a:spLocks noGrp="1"/>
          </p:cNvSpPr>
          <p:nvPr>
            <p:ph type="pic" idx="2"/>
          </p:nvPr>
        </p:nvSpPr>
        <p:spPr>
          <a:xfrm>
            <a:off x="3887391" y="740569"/>
            <a:ext cx="4629150" cy="3655219"/>
          </a:xfrm>
          <a:prstGeom prst="rect">
            <a:avLst/>
          </a:prstGeom>
          <a:noFill/>
          <a:ln>
            <a:noFill/>
          </a:ln>
        </p:spPr>
      </p:sp>
      <p:sp>
        <p:nvSpPr>
          <p:cNvPr id="64" name="Shape 26"/>
          <p:cNvSpPr txBox="1">
            <a:spLocks noGrp="1"/>
          </p:cNvSpPr>
          <p:nvPr>
            <p:ph type="body" idx="1"/>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a:endParaRPr/>
          </a:p>
        </p:txBody>
      </p:sp>
      <p:sp>
        <p:nvSpPr>
          <p:cNvPr id="65" name="Shape 27"/>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66" name="Shape 28"/>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67" name="Shape 29"/>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标题和竖排文字" type="vertTx">
  <p:cSld name="VERTICAL_TEXT">
    <p:spTree>
      <p:nvGrpSpPr>
        <p:cNvPr id="1" name="Shape 68"/>
        <p:cNvGrpSpPr/>
        <p:nvPr/>
      </p:nvGrpSpPr>
      <p:grpSpPr>
        <a:xfrm>
          <a:off x="0" y="0"/>
          <a:ext cx="0" cy="0"/>
          <a:chOff x="0" y="0"/>
          <a:chExt cx="0" cy="0"/>
        </a:xfrm>
      </p:grpSpPr>
      <p:sp>
        <p:nvSpPr>
          <p:cNvPr id="69" name="Shape 49"/>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70" name="Shape 50"/>
          <p:cNvSpPr txBox="1">
            <a:spLocks noGrp="1"/>
          </p:cNvSpPr>
          <p:nvPr>
            <p:ph type="body" idx="1"/>
          </p:nvPr>
        </p:nvSpPr>
        <p:spPr>
          <a:xfrm rot="5400000">
            <a:off x="2940248" y="-942379"/>
            <a:ext cx="3263504" cy="7886700"/>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71" name="Shape 51"/>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2" name="Shape 52"/>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3" name="Shape 53"/>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竖排标题与文本" type="vertTitleAndTx">
  <p:cSld name="VERTICAL_TITLE_AND_VERTICAL_TEXT">
    <p:spTree>
      <p:nvGrpSpPr>
        <p:cNvPr id="1" name="Shape 74"/>
        <p:cNvGrpSpPr/>
        <p:nvPr/>
      </p:nvGrpSpPr>
      <p:grpSpPr>
        <a:xfrm>
          <a:off x="0" y="0"/>
          <a:ext cx="0" cy="0"/>
          <a:chOff x="0" y="0"/>
          <a:chExt cx="0" cy="0"/>
        </a:xfrm>
      </p:grpSpPr>
      <p:sp>
        <p:nvSpPr>
          <p:cNvPr id="75" name="Shape 15"/>
          <p:cNvSpPr txBox="1">
            <a:spLocks noGrp="1"/>
          </p:cNvSpPr>
          <p:nvPr>
            <p:ph type="title"/>
          </p:nvPr>
        </p:nvSpPr>
        <p:spPr>
          <a:xfrm rot="5400000">
            <a:off x="5350073" y="1467445"/>
            <a:ext cx="4358879" cy="1971675"/>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76" name="Shape 16"/>
          <p:cNvSpPr txBox="1">
            <a:spLocks noGrp="1"/>
          </p:cNvSpPr>
          <p:nvPr>
            <p:ph type="body" idx="1"/>
          </p:nvPr>
        </p:nvSpPr>
        <p:spPr>
          <a:xfrm rot="5400000">
            <a:off x="1349573" y="-447080"/>
            <a:ext cx="4358879" cy="5800725"/>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77" name="Shape 17"/>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8" name="Shape 18"/>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9" name="Shape 19"/>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Shape 1"/>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marR="0" lvl="0" algn="l" rtl="0">
              <a:lnSpc>
                <a:spcPct val="90000"/>
              </a:lnSpc>
              <a:spcBef>
                <a:spcPts val="0"/>
              </a:spcBef>
              <a:spcAft>
                <a:spcPts val="0"/>
              </a:spcAft>
              <a:buClr>
                <a:schemeClr val="dk1"/>
              </a:buClr>
              <a:buSzPts val="3300"/>
              <a:buFont typeface="Arial"/>
              <a:buNone/>
              <a:defRPr sz="3300" b="0" i="0" u="none" strike="noStrike" cap="none">
                <a:solidFill>
                  <a:schemeClr val="dk1"/>
                </a:solidFill>
                <a:latin typeface="Arial"/>
                <a:ea typeface="Arial"/>
                <a:cs typeface="Arial"/>
                <a:sym typeface="Arial"/>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a:endParaRPr/>
          </a:p>
        </p:txBody>
      </p:sp>
      <p:sp>
        <p:nvSpPr>
          <p:cNvPr id="7" name="Shape 2"/>
          <p:cNvSpPr txBox="1">
            <a:spLocks noGrp="1"/>
          </p:cNvSpPr>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marR="0" lvl="0" indent="-361950" algn="l" rtl="0">
              <a:lnSpc>
                <a:spcPct val="90000"/>
              </a:lnSpc>
              <a:spcBef>
                <a:spcPts val="800"/>
              </a:spcBef>
              <a:spcAft>
                <a:spcPts val="0"/>
              </a:spcAft>
              <a:buClr>
                <a:schemeClr val="dk1"/>
              </a:buClr>
              <a:buSzPts val="2100"/>
              <a:buFont typeface="Arial"/>
              <a:buChar char="•"/>
              <a:defRPr sz="2100" b="0" i="0" u="none" strike="noStrike" cap="none">
                <a:solidFill>
                  <a:schemeClr val="dk1"/>
                </a:solidFill>
                <a:latin typeface="Arial"/>
                <a:ea typeface="Arial"/>
                <a:cs typeface="Arial"/>
                <a:sym typeface="Arial"/>
              </a:defRPr>
            </a:lvl1pPr>
            <a:lvl2pPr marL="914400" marR="0" lvl="1" indent="-342900" algn="l" rtl="0">
              <a:lnSpc>
                <a:spcPct val="90000"/>
              </a:lnSpc>
              <a:spcBef>
                <a:spcPts val="4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2pPr>
            <a:lvl3pPr marL="1371600" marR="0" lvl="2" indent="-323850" algn="l" rtl="0">
              <a:lnSpc>
                <a:spcPct val="90000"/>
              </a:lnSpc>
              <a:spcBef>
                <a:spcPts val="4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3pPr>
            <a:lvl4pPr marL="1828800" marR="0" lvl="3"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4pPr>
            <a:lvl5pPr marL="2286000" marR="0" lvl="4"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5pPr>
            <a:lvl6pPr marL="2743200" marR="0" lvl="5"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6pPr>
            <a:lvl7pPr marL="3200400" marR="0" lvl="6"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7pPr>
            <a:lvl8pPr marL="3657600" marR="0" lvl="7"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8pPr>
            <a:lvl9pPr marL="4114800" marR="0" lvl="8"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9pPr>
          </a:lstStyle>
          <a:p>
            <a:endParaRPr/>
          </a:p>
        </p:txBody>
      </p:sp>
      <p:sp>
        <p:nvSpPr>
          <p:cNvPr id="8" name="Shape 3"/>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marR="0" lvl="0" algn="l" rtl="0">
              <a:spcBef>
                <a:spcPts val="0"/>
              </a:spcBef>
              <a:spcAft>
                <a:spcPts val="0"/>
              </a:spcAft>
              <a:buSzPts val="1100"/>
              <a:buNone/>
              <a:defRPr sz="900" b="0" i="0" u="none" strike="noStrike" cap="none">
                <a:solidFill>
                  <a:srgbClr val="888888"/>
                </a:solidFill>
                <a:latin typeface="Arial"/>
                <a:ea typeface="Arial"/>
                <a:cs typeface="Arial"/>
                <a:sym typeface="Arial"/>
              </a:defRPr>
            </a:lvl1pPr>
            <a:lvl2pPr marR="0" lvl="1" algn="l" rtl="0">
              <a:spcBef>
                <a:spcPts val="0"/>
              </a:spcBef>
              <a:spcAft>
                <a:spcPts val="0"/>
              </a:spcAft>
              <a:buSzPts val="1100"/>
              <a:buNone/>
              <a:defRPr sz="1400" b="0" i="0" u="none" strike="noStrike" cap="none">
                <a:solidFill>
                  <a:schemeClr val="dk1"/>
                </a:solidFill>
                <a:latin typeface="Arial"/>
                <a:ea typeface="Arial"/>
                <a:cs typeface="Arial"/>
                <a:sym typeface="Arial"/>
              </a:defRPr>
            </a:lvl2pPr>
            <a:lvl3pPr marR="0" lvl="2" algn="l" rtl="0">
              <a:spcBef>
                <a:spcPts val="0"/>
              </a:spcBef>
              <a:spcAft>
                <a:spcPts val="0"/>
              </a:spcAft>
              <a:buSzPts val="1100"/>
              <a:buNone/>
              <a:defRPr sz="1400" b="0" i="0" u="none" strike="noStrike" cap="none">
                <a:solidFill>
                  <a:schemeClr val="dk1"/>
                </a:solidFill>
                <a:latin typeface="Arial"/>
                <a:ea typeface="Arial"/>
                <a:cs typeface="Arial"/>
                <a:sym typeface="Arial"/>
              </a:defRPr>
            </a:lvl3pPr>
            <a:lvl4pPr marR="0" lvl="3" algn="l" rtl="0">
              <a:spcBef>
                <a:spcPts val="0"/>
              </a:spcBef>
              <a:spcAft>
                <a:spcPts val="0"/>
              </a:spcAft>
              <a:buSzPts val="1100"/>
              <a:buNone/>
              <a:defRPr sz="1400" b="0" i="0" u="none" strike="noStrike" cap="none">
                <a:solidFill>
                  <a:schemeClr val="dk1"/>
                </a:solidFill>
                <a:latin typeface="Arial"/>
                <a:ea typeface="Arial"/>
                <a:cs typeface="Arial"/>
                <a:sym typeface="Arial"/>
              </a:defRPr>
            </a:lvl4pPr>
            <a:lvl5pPr marR="0" lvl="4" algn="l" rtl="0">
              <a:spcBef>
                <a:spcPts val="0"/>
              </a:spcBef>
              <a:spcAft>
                <a:spcPts val="0"/>
              </a:spcAft>
              <a:buSzPts val="1100"/>
              <a:buNone/>
              <a:defRPr sz="1400" b="0" i="0" u="none" strike="noStrike" cap="none">
                <a:solidFill>
                  <a:schemeClr val="dk1"/>
                </a:solidFill>
                <a:latin typeface="Arial"/>
                <a:ea typeface="Arial"/>
                <a:cs typeface="Arial"/>
                <a:sym typeface="Arial"/>
              </a:defRPr>
            </a:lvl5pPr>
            <a:lvl6pPr marR="0" lvl="5" algn="l" rtl="0">
              <a:spcBef>
                <a:spcPts val="0"/>
              </a:spcBef>
              <a:spcAft>
                <a:spcPts val="0"/>
              </a:spcAft>
              <a:buSzPts val="1100"/>
              <a:buNone/>
              <a:defRPr sz="1400" b="0" i="0" u="none" strike="noStrike" cap="none">
                <a:solidFill>
                  <a:schemeClr val="dk1"/>
                </a:solidFill>
                <a:latin typeface="Arial"/>
                <a:ea typeface="Arial"/>
                <a:cs typeface="Arial"/>
                <a:sym typeface="Arial"/>
              </a:defRPr>
            </a:lvl6pPr>
            <a:lvl7pPr marR="0" lvl="6" algn="l" rtl="0">
              <a:spcBef>
                <a:spcPts val="0"/>
              </a:spcBef>
              <a:spcAft>
                <a:spcPts val="0"/>
              </a:spcAft>
              <a:buSzPts val="1100"/>
              <a:buNone/>
              <a:defRPr sz="1400" b="0" i="0" u="none" strike="noStrike" cap="none">
                <a:solidFill>
                  <a:schemeClr val="dk1"/>
                </a:solidFill>
                <a:latin typeface="Arial"/>
                <a:ea typeface="Arial"/>
                <a:cs typeface="Arial"/>
                <a:sym typeface="Arial"/>
              </a:defRPr>
            </a:lvl7pPr>
            <a:lvl8pPr marR="0" lvl="7" algn="l" rtl="0">
              <a:spcBef>
                <a:spcPts val="0"/>
              </a:spcBef>
              <a:spcAft>
                <a:spcPts val="0"/>
              </a:spcAft>
              <a:buSzPts val="1100"/>
              <a:buNone/>
              <a:defRPr sz="1400" b="0" i="0" u="none" strike="noStrike" cap="none">
                <a:solidFill>
                  <a:schemeClr val="dk1"/>
                </a:solidFill>
                <a:latin typeface="Arial"/>
                <a:ea typeface="Arial"/>
                <a:cs typeface="Arial"/>
                <a:sym typeface="Arial"/>
              </a:defRPr>
            </a:lvl8pPr>
            <a:lvl9pPr marR="0" lvl="8" algn="l" rtl="0">
              <a:spcBef>
                <a:spcPts val="0"/>
              </a:spcBef>
              <a:spcAft>
                <a:spcPts val="0"/>
              </a:spcAft>
              <a:buSzPts val="1100"/>
              <a:buNone/>
              <a:defRPr sz="1400" b="0" i="0" u="none" strike="noStrike" cap="none">
                <a:solidFill>
                  <a:schemeClr val="dk1"/>
                </a:solidFill>
                <a:latin typeface="Arial"/>
                <a:ea typeface="Arial"/>
                <a:cs typeface="Arial"/>
                <a:sym typeface="Arial"/>
              </a:defRPr>
            </a:lvl9pPr>
          </a:lstStyle>
          <a:p>
            <a:endParaRPr/>
          </a:p>
        </p:txBody>
      </p:sp>
      <p:sp>
        <p:nvSpPr>
          <p:cNvPr id="9" name="Shape 4"/>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marR="0" lvl="0" algn="ctr" rtl="0">
              <a:spcBef>
                <a:spcPts val="0"/>
              </a:spcBef>
              <a:spcAft>
                <a:spcPts val="0"/>
              </a:spcAft>
              <a:buSzPts val="1100"/>
              <a:buNone/>
              <a:defRPr sz="900" b="0" i="0" u="none" strike="noStrike" cap="none">
                <a:solidFill>
                  <a:srgbClr val="888888"/>
                </a:solidFill>
                <a:latin typeface="Arial"/>
                <a:ea typeface="Arial"/>
                <a:cs typeface="Arial"/>
                <a:sym typeface="Arial"/>
              </a:defRPr>
            </a:lvl1pPr>
            <a:lvl2pPr marR="0" lvl="1" algn="l" rtl="0">
              <a:spcBef>
                <a:spcPts val="0"/>
              </a:spcBef>
              <a:spcAft>
                <a:spcPts val="0"/>
              </a:spcAft>
              <a:buSzPts val="1100"/>
              <a:buNone/>
              <a:defRPr sz="1400" b="0" i="0" u="none" strike="noStrike" cap="none">
                <a:solidFill>
                  <a:schemeClr val="dk1"/>
                </a:solidFill>
                <a:latin typeface="Arial"/>
                <a:ea typeface="Arial"/>
                <a:cs typeface="Arial"/>
                <a:sym typeface="Arial"/>
              </a:defRPr>
            </a:lvl2pPr>
            <a:lvl3pPr marR="0" lvl="2" algn="l" rtl="0">
              <a:spcBef>
                <a:spcPts val="0"/>
              </a:spcBef>
              <a:spcAft>
                <a:spcPts val="0"/>
              </a:spcAft>
              <a:buSzPts val="1100"/>
              <a:buNone/>
              <a:defRPr sz="1400" b="0" i="0" u="none" strike="noStrike" cap="none">
                <a:solidFill>
                  <a:schemeClr val="dk1"/>
                </a:solidFill>
                <a:latin typeface="Arial"/>
                <a:ea typeface="Arial"/>
                <a:cs typeface="Arial"/>
                <a:sym typeface="Arial"/>
              </a:defRPr>
            </a:lvl3pPr>
            <a:lvl4pPr marR="0" lvl="3" algn="l" rtl="0">
              <a:spcBef>
                <a:spcPts val="0"/>
              </a:spcBef>
              <a:spcAft>
                <a:spcPts val="0"/>
              </a:spcAft>
              <a:buSzPts val="1100"/>
              <a:buNone/>
              <a:defRPr sz="1400" b="0" i="0" u="none" strike="noStrike" cap="none">
                <a:solidFill>
                  <a:schemeClr val="dk1"/>
                </a:solidFill>
                <a:latin typeface="Arial"/>
                <a:ea typeface="Arial"/>
                <a:cs typeface="Arial"/>
                <a:sym typeface="Arial"/>
              </a:defRPr>
            </a:lvl4pPr>
            <a:lvl5pPr marR="0" lvl="4" algn="l" rtl="0">
              <a:spcBef>
                <a:spcPts val="0"/>
              </a:spcBef>
              <a:spcAft>
                <a:spcPts val="0"/>
              </a:spcAft>
              <a:buSzPts val="1100"/>
              <a:buNone/>
              <a:defRPr sz="1400" b="0" i="0" u="none" strike="noStrike" cap="none">
                <a:solidFill>
                  <a:schemeClr val="dk1"/>
                </a:solidFill>
                <a:latin typeface="Arial"/>
                <a:ea typeface="Arial"/>
                <a:cs typeface="Arial"/>
                <a:sym typeface="Arial"/>
              </a:defRPr>
            </a:lvl5pPr>
            <a:lvl6pPr marR="0" lvl="5" algn="l" rtl="0">
              <a:spcBef>
                <a:spcPts val="0"/>
              </a:spcBef>
              <a:spcAft>
                <a:spcPts val="0"/>
              </a:spcAft>
              <a:buSzPts val="1100"/>
              <a:buNone/>
              <a:defRPr sz="1400" b="0" i="0" u="none" strike="noStrike" cap="none">
                <a:solidFill>
                  <a:schemeClr val="dk1"/>
                </a:solidFill>
                <a:latin typeface="Arial"/>
                <a:ea typeface="Arial"/>
                <a:cs typeface="Arial"/>
                <a:sym typeface="Arial"/>
              </a:defRPr>
            </a:lvl6pPr>
            <a:lvl7pPr marR="0" lvl="6" algn="l" rtl="0">
              <a:spcBef>
                <a:spcPts val="0"/>
              </a:spcBef>
              <a:spcAft>
                <a:spcPts val="0"/>
              </a:spcAft>
              <a:buSzPts val="1100"/>
              <a:buNone/>
              <a:defRPr sz="1400" b="0" i="0" u="none" strike="noStrike" cap="none">
                <a:solidFill>
                  <a:schemeClr val="dk1"/>
                </a:solidFill>
                <a:latin typeface="Arial"/>
                <a:ea typeface="Arial"/>
                <a:cs typeface="Arial"/>
                <a:sym typeface="Arial"/>
              </a:defRPr>
            </a:lvl7pPr>
            <a:lvl8pPr marR="0" lvl="7" algn="l" rtl="0">
              <a:spcBef>
                <a:spcPts val="0"/>
              </a:spcBef>
              <a:spcAft>
                <a:spcPts val="0"/>
              </a:spcAft>
              <a:buSzPts val="1100"/>
              <a:buNone/>
              <a:defRPr sz="1400" b="0" i="0" u="none" strike="noStrike" cap="none">
                <a:solidFill>
                  <a:schemeClr val="dk1"/>
                </a:solidFill>
                <a:latin typeface="Arial"/>
                <a:ea typeface="Arial"/>
                <a:cs typeface="Arial"/>
                <a:sym typeface="Arial"/>
              </a:defRPr>
            </a:lvl8pPr>
            <a:lvl9pPr marR="0" lvl="8" algn="l" rtl="0">
              <a:spcBef>
                <a:spcPts val="0"/>
              </a:spcBef>
              <a:spcAft>
                <a:spcPts val="0"/>
              </a:spcAft>
              <a:buSzPts val="1100"/>
              <a:buNone/>
              <a:defRPr sz="1400" b="0" i="0" u="none" strike="noStrike" cap="none">
                <a:solidFill>
                  <a:schemeClr val="dk1"/>
                </a:solidFill>
                <a:latin typeface="Arial"/>
                <a:ea typeface="Arial"/>
                <a:cs typeface="Arial"/>
                <a:sym typeface="Arial"/>
              </a:defRPr>
            </a:lvl9pPr>
          </a:lstStyle>
          <a:p>
            <a:endParaRPr/>
          </a:p>
        </p:txBody>
      </p:sp>
      <p:sp>
        <p:nvSpPr>
          <p:cNvPr id="10" name="Shape 5"/>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marR="0" lvl="0" indent="0" algn="r" rtl="0">
              <a:spcBef>
                <a:spcPts val="0"/>
              </a:spcBef>
              <a:buNone/>
              <a:defRPr sz="900" b="0" i="0" u="none" strike="noStrike" cap="none">
                <a:solidFill>
                  <a:srgbClr val="888888"/>
                </a:solidFill>
                <a:latin typeface="Arial"/>
                <a:ea typeface="Arial"/>
                <a:cs typeface="Arial"/>
                <a:sym typeface="Arial"/>
              </a:defRPr>
            </a:lvl1pPr>
            <a:lvl2pPr marL="0" marR="0" lvl="1" indent="0" algn="r" rtl="0">
              <a:spcBef>
                <a:spcPts val="0"/>
              </a:spcBef>
              <a:buNone/>
              <a:defRPr sz="900" b="0" i="0" u="none" strike="noStrike" cap="none">
                <a:solidFill>
                  <a:srgbClr val="888888"/>
                </a:solidFill>
                <a:latin typeface="Arial"/>
                <a:ea typeface="Arial"/>
                <a:cs typeface="Arial"/>
                <a:sym typeface="Arial"/>
              </a:defRPr>
            </a:lvl2pPr>
            <a:lvl3pPr marL="0" marR="0" lvl="2" indent="0" algn="r" rtl="0">
              <a:spcBef>
                <a:spcPts val="0"/>
              </a:spcBef>
              <a:buNone/>
              <a:defRPr sz="900" b="0" i="0" u="none" strike="noStrike" cap="none">
                <a:solidFill>
                  <a:srgbClr val="888888"/>
                </a:solidFill>
                <a:latin typeface="Arial"/>
                <a:ea typeface="Arial"/>
                <a:cs typeface="Arial"/>
                <a:sym typeface="Arial"/>
              </a:defRPr>
            </a:lvl3pPr>
            <a:lvl4pPr marL="0" marR="0" lvl="3" indent="0" algn="r" rtl="0">
              <a:spcBef>
                <a:spcPts val="0"/>
              </a:spcBef>
              <a:buNone/>
              <a:defRPr sz="900" b="0" i="0" u="none" strike="noStrike" cap="none">
                <a:solidFill>
                  <a:srgbClr val="888888"/>
                </a:solidFill>
                <a:latin typeface="Arial"/>
                <a:ea typeface="Arial"/>
                <a:cs typeface="Arial"/>
                <a:sym typeface="Arial"/>
              </a:defRPr>
            </a:lvl4pPr>
            <a:lvl5pPr marL="0" marR="0" lvl="4" indent="0" algn="r" rtl="0">
              <a:spcBef>
                <a:spcPts val="0"/>
              </a:spcBef>
              <a:buNone/>
              <a:defRPr sz="900" b="0" i="0" u="none" strike="noStrike" cap="none">
                <a:solidFill>
                  <a:srgbClr val="888888"/>
                </a:solidFill>
                <a:latin typeface="Arial"/>
                <a:ea typeface="Arial"/>
                <a:cs typeface="Arial"/>
                <a:sym typeface="Arial"/>
              </a:defRPr>
            </a:lvl5pPr>
            <a:lvl6pPr marL="0" marR="0" lvl="5" indent="0" algn="r" rtl="0">
              <a:spcBef>
                <a:spcPts val="0"/>
              </a:spcBef>
              <a:buNone/>
              <a:defRPr sz="900" b="0" i="0" u="none" strike="noStrike" cap="none">
                <a:solidFill>
                  <a:srgbClr val="888888"/>
                </a:solidFill>
                <a:latin typeface="Arial"/>
                <a:ea typeface="Arial"/>
                <a:cs typeface="Arial"/>
                <a:sym typeface="Arial"/>
              </a:defRPr>
            </a:lvl6pPr>
            <a:lvl7pPr marL="0" marR="0" lvl="6" indent="0" algn="r" rtl="0">
              <a:spcBef>
                <a:spcPts val="0"/>
              </a:spcBef>
              <a:buNone/>
              <a:defRPr sz="900" b="0" i="0" u="none" strike="noStrike" cap="none">
                <a:solidFill>
                  <a:srgbClr val="888888"/>
                </a:solidFill>
                <a:latin typeface="Arial"/>
                <a:ea typeface="Arial"/>
                <a:cs typeface="Arial"/>
                <a:sym typeface="Arial"/>
              </a:defRPr>
            </a:lvl7pPr>
            <a:lvl8pPr marL="0" marR="0" lvl="7" indent="0" algn="r" rtl="0">
              <a:spcBef>
                <a:spcPts val="0"/>
              </a:spcBef>
              <a:buNone/>
              <a:defRPr sz="900" b="0" i="0" u="none" strike="noStrike" cap="none">
                <a:solidFill>
                  <a:srgbClr val="888888"/>
                </a:solidFill>
                <a:latin typeface="Arial"/>
                <a:ea typeface="Arial"/>
                <a:cs typeface="Arial"/>
                <a:sym typeface="Arial"/>
              </a:defRPr>
            </a:lvl8pPr>
            <a:lvl9pPr marL="0" marR="0" lvl="8" indent="0" algn="r" rtl="0">
              <a:spcBef>
                <a:spcPts val="0"/>
              </a:spcBef>
              <a:buNone/>
              <a:defRPr sz="9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zh-C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name="默认主题">
    <p:bg>
      <p:bgPr>
        <a:solidFill>
          <a:srgbClr val="FFFFFF">
            <a:alpha val="100000"/>
          </a:srgbClr>
        </a:solidFill>
        <a:effectLst/>
      </p:bgPr>
    </p:bg>
    <p:spTree>
      <p:nvGrpSpPr>
        <p:cNvPr id="1"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57483699"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2.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7"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12.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12.xml"/><Relationship Id="rId5" Type="http://schemas.openxmlformats.org/officeDocument/2006/relationships/image" Target="../media/image12.png"/><Relationship Id="rId4" Type="http://schemas.openxmlformats.org/officeDocument/2006/relationships/image" Target="../media/image11.png"/></Relationships>
</file>

<file path=ppt/slides/_rels/slide5.xml.rels><?xml version="1.0" encoding="UTF-8" standalone="yes"?>
<Relationships xmlns="http://schemas.openxmlformats.org/package/2006/relationships"><Relationship Id="rId3" Type="http://schemas.openxmlformats.org/officeDocument/2006/relationships/image" Target="../media/image13.png"/><Relationship Id="rId7" Type="http://schemas.openxmlformats.org/officeDocument/2006/relationships/image" Target="../media/image17.png"/><Relationship Id="rId2" Type="http://schemas.openxmlformats.org/officeDocument/2006/relationships/notesSlide" Target="../notesSlides/notesSlide5.xml"/><Relationship Id="rId1" Type="http://schemas.openxmlformats.org/officeDocument/2006/relationships/slideLayout" Target="../slideLayouts/slideLayout12.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s>
</file>

<file path=ppt/slides/_rels/slide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notesSlide" Target="../notesSlides/notesSlide7.xml"/><Relationship Id="rId1" Type="http://schemas.openxmlformats.org/officeDocument/2006/relationships/slideLayout" Target="../slideLayouts/slideLayout12.x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20.jpeg"/></Relationships>
</file>

<file path=ppt/slides/_rels/slide8.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8.xml"/><Relationship Id="rId1" Type="http://schemas.openxmlformats.org/officeDocument/2006/relationships/slideLayout" Target="../slideLayouts/slideLayout12.xml"/><Relationship Id="rId5" Type="http://schemas.openxmlformats.org/officeDocument/2006/relationships/image" Target="../media/image25.png"/><Relationship Id="rId4" Type="http://schemas.openxmlformats.org/officeDocument/2006/relationships/image" Target="../media/image24.jpeg"/></Relationships>
</file>

<file path=ppt/slides/_rels/slide9.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0.xml"/><Relationship Id="rId1" Type="http://schemas.openxmlformats.org/officeDocument/2006/relationships/slideLayout" Target="../slideLayouts/slideLayout12.xml"/><Relationship Id="rId6" Type="http://schemas.openxmlformats.org/officeDocument/2006/relationships/image" Target="../media/image30.png"/><Relationship Id="rId5" Type="http://schemas.openxmlformats.org/officeDocument/2006/relationships/image" Target="../media/image29.png"/><Relationship Id="rId4" Type="http://schemas.openxmlformats.org/officeDocument/2006/relationships/image" Target="../media/image28.png"/></Relationships>
</file>

<file path=ppt/slides/_rels/slide11.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1.xml"/><Relationship Id="rId1" Type="http://schemas.openxmlformats.org/officeDocument/2006/relationships/slideLayout" Target="../slideLayouts/slideLayout12.xml"/><Relationship Id="rId4" Type="http://schemas.openxmlformats.org/officeDocument/2006/relationships/image" Target="../media/image32.png"/></Relationships>
</file>

<file path=ppt/slides/_rels/slide12.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12.xml"/><Relationship Id="rId1" Type="http://schemas.openxmlformats.org/officeDocument/2006/relationships/slideLayout" Target="../slideLayouts/slideLayout12.xml"/><Relationship Id="rId4" Type="http://schemas.openxmlformats.org/officeDocument/2006/relationships/image" Target="../media/image34.jpeg"/></Relationships>
</file>

<file path=ppt/slides/_rels/slide13.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13.xml"/><Relationship Id="rId1" Type="http://schemas.openxmlformats.org/officeDocument/2006/relationships/slideLayout" Target="../slideLayouts/slideLayout12.xml"/><Relationship Id="rId5" Type="http://schemas.openxmlformats.org/officeDocument/2006/relationships/image" Target="../media/image37.png"/><Relationship Id="rId4" Type="http://schemas.openxmlformats.org/officeDocument/2006/relationships/image" Target="../media/image36.png"/></Relationships>
</file>

<file path=ppt/slides/_rels/slide14.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14.xml"/><Relationship Id="rId1" Type="http://schemas.openxmlformats.org/officeDocument/2006/relationships/slideLayout" Target="../slideLayouts/slideLayout12.xml"/><Relationship Id="rId5" Type="http://schemas.openxmlformats.org/officeDocument/2006/relationships/image" Target="../media/image29.png"/><Relationship Id="rId4" Type="http://schemas.openxmlformats.org/officeDocument/2006/relationships/image" Target="../media/image28.png"/></Relationships>
</file>

<file path=ppt/slides/_rels/slide15.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15.xml"/><Relationship Id="rId1" Type="http://schemas.openxmlformats.org/officeDocument/2006/relationships/slideLayout" Target="../slideLayouts/slideLayout12.xml"/><Relationship Id="rId4" Type="http://schemas.openxmlformats.org/officeDocument/2006/relationships/image" Target="../media/image40.png"/></Relationships>
</file>

<file path=ppt/slides/_rels/slide16.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16.xml"/><Relationship Id="rId1" Type="http://schemas.openxmlformats.org/officeDocument/2006/relationships/slideLayout" Target="../slideLayouts/slideLayout12.xml"/><Relationship Id="rId4" Type="http://schemas.openxmlformats.org/officeDocument/2006/relationships/image" Target="../media/image42.png"/></Relationships>
</file>

<file path=ppt/slides/_rels/slide17.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17.xml"/><Relationship Id="rId1" Type="http://schemas.openxmlformats.org/officeDocument/2006/relationships/slideLayout" Target="../slideLayouts/slideLayout12.xml"/><Relationship Id="rId5" Type="http://schemas.openxmlformats.org/officeDocument/2006/relationships/image" Target="../media/image45.png"/><Relationship Id="rId4" Type="http://schemas.openxmlformats.org/officeDocument/2006/relationships/image" Target="../media/image44.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8F8F8">
            <a:alpha val="100000"/>
          </a:srgbClr>
        </a:solidFill>
        <a:effectLst/>
      </p:bgPr>
    </p:bg>
    <p:spTree>
      <p:nvGrpSpPr>
        <p:cNvPr id="1" name=""/>
        <p:cNvGrpSpPr/>
        <p:nvPr/>
      </p:nvGrpSpPr>
      <p:grpSpPr>
        <a:xfrm>
          <a:off x="0" y="0"/>
          <a:ext cx="0" cy="0"/>
          <a:chOff x="0" y="0"/>
          <a:chExt cx="0" cy="0"/>
        </a:xfrm>
      </p:grpSpPr>
      <p:sp>
        <p:nvSpPr>
          <p:cNvPr id="43" name="AutoShape 11"/>
          <p:cNvSpPr/>
          <p:nvPr/>
        </p:nvSpPr>
        <p:spPr>
          <a:xfrm>
            <a:off x="103534" y="230266"/>
            <a:ext cx="1568512" cy="1568512"/>
          </a:xfrm>
          <a:prstGeom prst="ellipse">
            <a:avLst/>
          </a:prstGeom>
          <a:noFill/>
          <a:ln w="25400" cap="flat" cmpd="sng">
            <a:solidFill>
              <a:srgbClr val="3B82F6">
                <a:alpha val="100000"/>
              </a:srgbClr>
            </a:solidFill>
            <a:prstDash val="dash"/>
            <a:round/>
          </a:ln>
        </p:spPr>
        <p:txBody>
          <a:bodyPr vert="horz" wrap="square" lIns="0" tIns="0" rIns="0" bIns="0" rtlCol="0" anchor="ctr" anchorCtr="0"/>
          <a:lstStyle/>
          <a:p>
            <a:pPr algn="ctr">
              <a:defRPr/>
            </a:pPr>
            <a:endParaRPr/>
          </a:p>
        </p:txBody>
      </p:sp>
      <p:sp>
        <p:nvSpPr>
          <p:cNvPr id="42" name="AutoShape 4"/>
          <p:cNvSpPr/>
          <p:nvPr/>
        </p:nvSpPr>
        <p:spPr>
          <a:xfrm>
            <a:off x="0" y="-62702"/>
            <a:ext cx="3810000" cy="5206202"/>
          </a:xfrm>
          <a:prstGeom prst="rtTriangle">
            <a:avLst/>
          </a:prstGeom>
          <a:solidFill>
            <a:srgbClr val="F3F4F6">
              <a:alpha val="100000"/>
            </a:srgbClr>
          </a:solidFill>
          <a:ln w="25400" cap="flat" cmpd="sng">
            <a:noFill/>
            <a:prstDash val="solid"/>
            <a:round/>
          </a:ln>
        </p:spPr>
        <p:txBody>
          <a:bodyPr vert="horz" wrap="square" lIns="0" tIns="0" rIns="0" bIns="0" rtlCol="0" anchor="ctr" anchorCtr="0"/>
          <a:lstStyle/>
          <a:p>
            <a:pPr algn="ctr">
              <a:defRPr/>
            </a:pPr>
            <a:endParaRPr/>
          </a:p>
        </p:txBody>
      </p:sp>
      <p:sp>
        <p:nvSpPr>
          <p:cNvPr id="2" name="AutoShape 2"/>
          <p:cNvSpPr/>
          <p:nvPr/>
        </p:nvSpPr>
        <p:spPr>
          <a:xfrm>
            <a:off x="939171" y="1113968"/>
            <a:ext cx="6235700" cy="1333500"/>
          </a:xfrm>
          <a:prstGeom prst="rect">
            <a:avLst/>
          </a:prstGeom>
          <a:noFill/>
          <a:ln w="9525" cap="flat" cmpd="sng">
            <a:noFill/>
            <a:prstDash val="solid"/>
            <a:round/>
          </a:ln>
        </p:spPr>
        <p:txBody>
          <a:bodyPr vert="horz" wrap="square" lIns="88900" tIns="88900" rIns="88900" bIns="88900" rtlCol="0" anchor="ctr" anchorCtr="0"/>
          <a:lstStyle/>
          <a:p>
            <a:pPr algn="ctr">
              <a:defRPr/>
            </a:pPr>
            <a:r>
              <a:rPr lang="en-US" sz="3200" b="1" dirty="0">
                <a:latin typeface="Arial Black" panose="020B0A04020102020204" pitchFamily="34" charset="0"/>
                <a:sym typeface="Wingdings" panose="05000000000000000000" pitchFamily="2" charset="2"/>
              </a:rPr>
              <a:t> </a:t>
            </a:r>
            <a:r>
              <a:rPr lang="en-US" sz="3200" b="0" i="0" u="none" strike="noStrike" dirty="0" smtClean="0">
                <a:solidFill>
                  <a:srgbClr val="000000"/>
                </a:solidFill>
                <a:latin typeface="Arial Black"/>
                <a:ea typeface="Arial Black"/>
                <a:cs typeface="Arial Black"/>
                <a:sym typeface="Arial Black"/>
              </a:rPr>
              <a:t>LMS </a:t>
            </a:r>
            <a:r>
              <a:rPr lang="en-US" sz="3200" b="0" i="0" u="none" strike="noStrike" dirty="0">
                <a:solidFill>
                  <a:srgbClr val="000000"/>
                </a:solidFill>
                <a:latin typeface="Arial Black"/>
                <a:ea typeface="Arial Black"/>
                <a:cs typeface="Arial Black"/>
                <a:sym typeface="Arial Black"/>
              </a:rPr>
              <a:t>Pro</a:t>
            </a:r>
            <a:r>
              <a:rPr lang="en-US" sz="3200" b="0" i="0" u="none" strike="noStrike" dirty="0">
                <a:solidFill>
                  <a:srgbClr val="1F2329"/>
                </a:solidFill>
                <a:latin typeface="Arial Black"/>
                <a:ea typeface="Arial Black"/>
                <a:cs typeface="Arial Black"/>
                <a:sym typeface="Arial Black"/>
              </a:rPr>
              <a:t/>
            </a:r>
            <a:br>
              <a:rPr lang="en-US" sz="3200" b="0" i="0" u="none" strike="noStrike" dirty="0">
                <a:solidFill>
                  <a:srgbClr val="1F2329"/>
                </a:solidFill>
                <a:latin typeface="Arial Black"/>
                <a:ea typeface="Arial Black"/>
                <a:cs typeface="Arial Black"/>
                <a:sym typeface="Arial Black"/>
              </a:rPr>
            </a:br>
            <a:r>
              <a:rPr lang="en-US" sz="3200" b="0" i="0" u="none" strike="noStrike" dirty="0">
                <a:solidFill>
                  <a:srgbClr val="6194E6"/>
                </a:solidFill>
                <a:effectLst>
                  <a:outerShdw blurRad="38100" dist="38100" dir="2700000" algn="tl" rotWithShape="0">
                    <a:srgbClr val="000000">
                      <a:alpha val="43100"/>
                    </a:srgbClr>
                  </a:outerShdw>
                </a:effectLst>
                <a:latin typeface="Arial Black"/>
                <a:ea typeface="Arial Black"/>
                <a:cs typeface="Arial Black"/>
                <a:sym typeface="Arial Black"/>
              </a:rPr>
              <a:t>Learning Management Architecture</a:t>
            </a:r>
            <a:endParaRPr lang="en-US" sz="1100" dirty="0"/>
          </a:p>
        </p:txBody>
      </p:sp>
      <p:sp>
        <p:nvSpPr>
          <p:cNvPr id="15" name="AutoShape 15"/>
          <p:cNvSpPr/>
          <p:nvPr/>
        </p:nvSpPr>
        <p:spPr>
          <a:xfrm rot="-2700000">
            <a:off x="7670800" y="1308100"/>
            <a:ext cx="990600" cy="114300"/>
          </a:xfrm>
          <a:prstGeom prst="roundRect">
            <a:avLst>
              <a:gd name="adj" fmla="val 55555"/>
            </a:avLst>
          </a:prstGeom>
          <a:solidFill>
            <a:srgbClr val="F8F8F8">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22" name="Picture 22"/>
          <p:cNvPicPr>
            <a:picLocks noChangeAspect="1"/>
          </p:cNvPicPr>
          <p:nvPr/>
        </p:nvPicPr>
        <p:blipFill>
          <a:blip r:embed="rId3"/>
          <a:srcRect t="44" b="44"/>
          <a:stretch>
            <a:fillRect/>
          </a:stretch>
        </p:blipFill>
        <p:spPr>
          <a:xfrm>
            <a:off x="5607621" y="192008"/>
            <a:ext cx="673100" cy="660400"/>
          </a:xfrm>
          <a:prstGeom prst="rect">
            <a:avLst/>
          </a:prstGeom>
          <a:noFill/>
          <a:ln w="25400" cap="flat" cmpd="sng">
            <a:noFill/>
            <a:prstDash val="solid"/>
            <a:round/>
          </a:ln>
        </p:spPr>
      </p:pic>
      <p:sp>
        <p:nvSpPr>
          <p:cNvPr id="25" name="AutoShape 25"/>
          <p:cNvSpPr/>
          <p:nvPr/>
        </p:nvSpPr>
        <p:spPr>
          <a:xfrm>
            <a:off x="1072197" y="3883051"/>
            <a:ext cx="3412117" cy="1154565"/>
          </a:xfrm>
          <a:prstGeom prst="rect">
            <a:avLst/>
          </a:prstGeom>
          <a:noFill/>
          <a:ln w="9525" cap="flat" cmpd="sng">
            <a:noFill/>
            <a:prstDash val="solid"/>
            <a:round/>
          </a:ln>
        </p:spPr>
        <p:txBody>
          <a:bodyPr vert="horz" wrap="square" lIns="88900" tIns="50800" rIns="88900" bIns="50800" rtlCol="0" anchor="t" anchorCtr="0"/>
          <a:lstStyle/>
          <a:p>
            <a:pPr marL="0" indent="0" algn="l">
              <a:lnSpc>
                <a:spcPct val="150000"/>
              </a:lnSpc>
              <a:defRPr/>
            </a:pPr>
            <a:r>
              <a:rPr lang="en-US" sz="1000" b="1" i="0" u="none" strike="noStrike" dirty="0" smtClean="0">
                <a:solidFill>
                  <a:schemeClr val="tx1">
                    <a:lumMod val="85000"/>
                    <a:lumOff val="15000"/>
                  </a:schemeClr>
                </a:solidFill>
                <a:sym typeface="Arial"/>
              </a:rPr>
              <a:t>Student Name: </a:t>
            </a:r>
            <a:r>
              <a:rPr lang="en-US" sz="1000" i="0" u="none" strike="noStrike" dirty="0">
                <a:solidFill>
                  <a:schemeClr val="tx1">
                    <a:lumMod val="85000"/>
                    <a:lumOff val="15000"/>
                  </a:schemeClr>
                </a:solidFill>
                <a:sym typeface="Arial"/>
              </a:rPr>
              <a:t>LINUS VINCENT </a:t>
            </a:r>
            <a:r>
              <a:rPr lang="en-US" sz="1000" i="0" u="none" strike="noStrike" dirty="0" smtClean="0">
                <a:solidFill>
                  <a:schemeClr val="tx1">
                    <a:lumMod val="85000"/>
                    <a:lumOff val="15000"/>
                  </a:schemeClr>
                </a:solidFill>
                <a:sym typeface="Arial"/>
              </a:rPr>
              <a:t>ROZARIO</a:t>
            </a:r>
            <a:r>
              <a:rPr lang="zh-CN" altLang="en-US" sz="1000" dirty="0">
                <a:solidFill>
                  <a:schemeClr val="tx1">
                    <a:lumMod val="85000"/>
                    <a:lumOff val="15000"/>
                  </a:schemeClr>
                </a:solidFill>
              </a:rPr>
              <a:t>－</a:t>
            </a:r>
            <a:r>
              <a:rPr lang="zh-CN" altLang="en-US" sz="1000" i="0" u="none" strike="noStrike" dirty="0" smtClean="0">
                <a:solidFill>
                  <a:schemeClr val="tx1">
                    <a:lumMod val="85000"/>
                    <a:lumOff val="15000"/>
                  </a:schemeClr>
                </a:solidFill>
                <a:sym typeface="Arial"/>
              </a:rPr>
              <a:t>文森特</a:t>
            </a:r>
            <a:endParaRPr lang="en-US" sz="900" dirty="0" smtClean="0">
              <a:solidFill>
                <a:schemeClr val="tx1">
                  <a:lumMod val="85000"/>
                  <a:lumOff val="15000"/>
                </a:schemeClr>
              </a:solidFill>
            </a:endParaRPr>
          </a:p>
          <a:p>
            <a:pPr marL="0" indent="0" algn="l">
              <a:lnSpc>
                <a:spcPct val="150000"/>
              </a:lnSpc>
            </a:pPr>
            <a:r>
              <a:rPr lang="en-US" sz="1000" b="1" i="0" u="none" strike="noStrike" dirty="0" smtClean="0">
                <a:solidFill>
                  <a:schemeClr val="tx1">
                    <a:lumMod val="85000"/>
                    <a:lumOff val="15000"/>
                  </a:schemeClr>
                </a:solidFill>
                <a:sym typeface="Arial"/>
              </a:rPr>
              <a:t>Major</a:t>
            </a:r>
            <a:r>
              <a:rPr lang="en-US" sz="1000" b="1" i="0" u="none" strike="noStrike" dirty="0">
                <a:solidFill>
                  <a:schemeClr val="tx1">
                    <a:lumMod val="85000"/>
                    <a:lumOff val="15000"/>
                  </a:schemeClr>
                </a:solidFill>
                <a:sym typeface="Arial"/>
              </a:rPr>
              <a:t>: </a:t>
            </a:r>
            <a:r>
              <a:rPr lang="en-US" sz="1000" b="0" i="1" u="none" strike="noStrike" dirty="0">
                <a:solidFill>
                  <a:schemeClr val="tx1">
                    <a:lumMod val="85000"/>
                    <a:lumOff val="15000"/>
                  </a:schemeClr>
                </a:solidFill>
                <a:sym typeface="Arial"/>
              </a:rPr>
              <a:t>Computer Technology | Academic </a:t>
            </a:r>
            <a:r>
              <a:rPr lang="en-US" sz="1000" b="0" i="1" u="none" strike="noStrike" dirty="0" smtClean="0">
                <a:solidFill>
                  <a:schemeClr val="tx1">
                    <a:lumMod val="85000"/>
                    <a:lumOff val="15000"/>
                  </a:schemeClr>
                </a:solidFill>
                <a:sym typeface="Arial"/>
              </a:rPr>
              <a:t>Project</a:t>
            </a:r>
          </a:p>
          <a:p>
            <a:pPr>
              <a:lnSpc>
                <a:spcPct val="150000"/>
              </a:lnSpc>
            </a:pPr>
            <a:r>
              <a:rPr lang="en-US" sz="1000" b="1" dirty="0" smtClean="0">
                <a:solidFill>
                  <a:schemeClr val="tx1">
                    <a:lumMod val="85000"/>
                    <a:lumOff val="15000"/>
                  </a:schemeClr>
                </a:solidFill>
              </a:rPr>
              <a:t>Student ID: </a:t>
            </a:r>
            <a:r>
              <a:rPr lang="en-US" sz="1000" dirty="0" smtClean="0">
                <a:solidFill>
                  <a:schemeClr val="tx1">
                    <a:lumMod val="85000"/>
                    <a:lumOff val="15000"/>
                  </a:schemeClr>
                </a:solidFill>
              </a:rPr>
              <a:t>L202309065</a:t>
            </a:r>
            <a:endParaRPr lang="en-US" sz="1000" b="1" i="0" u="none" strike="noStrike" dirty="0">
              <a:solidFill>
                <a:schemeClr val="tx1">
                  <a:lumMod val="85000"/>
                  <a:lumOff val="15000"/>
                </a:schemeClr>
              </a:solidFill>
              <a:sym typeface="Arial"/>
            </a:endParaRPr>
          </a:p>
        </p:txBody>
      </p:sp>
      <p:pic>
        <p:nvPicPr>
          <p:cNvPr id="39" name="Picture 38"/>
          <p:cNvPicPr>
            <a:picLocks noChangeAspect="1"/>
          </p:cNvPicPr>
          <p:nvPr/>
        </p:nvPicPr>
        <p:blipFill>
          <a:blip r:embed="rId4"/>
          <a:stretch>
            <a:fillRect/>
          </a:stretch>
        </p:blipFill>
        <p:spPr>
          <a:xfrm>
            <a:off x="244958" y="3846466"/>
            <a:ext cx="757472" cy="757472"/>
          </a:xfrm>
          <a:prstGeom prst="rect">
            <a:avLst/>
          </a:prstGeom>
        </p:spPr>
      </p:pic>
      <p:sp>
        <p:nvSpPr>
          <p:cNvPr id="40" name="Rectangle 39"/>
          <p:cNvSpPr/>
          <p:nvPr/>
        </p:nvSpPr>
        <p:spPr>
          <a:xfrm>
            <a:off x="6207469" y="188452"/>
            <a:ext cx="2892117" cy="523220"/>
          </a:xfrm>
          <a:prstGeom prst="rect">
            <a:avLst/>
          </a:prstGeom>
        </p:spPr>
        <p:txBody>
          <a:bodyPr wrap="square">
            <a:spAutoFit/>
          </a:bodyPr>
          <a:lstStyle/>
          <a:p>
            <a:pPr algn="ctr"/>
            <a:r>
              <a:rPr lang="en-US" b="1" i="1" kern="100" dirty="0">
                <a:latin typeface="Times New Roman" panose="02020603050405020304" pitchFamily="18" charset="0"/>
                <a:ea typeface="SimSun" panose="02010600030101010101" pitchFamily="2" charset="-122"/>
              </a:rPr>
              <a:t>Zibo Polytechnic University School of Artificial Intelligence</a:t>
            </a:r>
            <a:endParaRPr lang="en-US" sz="700" kern="100" dirty="0">
              <a:latin typeface="Times New Roman" panose="02020603050405020304" pitchFamily="18" charset="0"/>
              <a:ea typeface="SimSun" panose="02010600030101010101" pitchFamily="2" charset="-122"/>
            </a:endParaRPr>
          </a:p>
        </p:txBody>
      </p:sp>
      <p:sp>
        <p:nvSpPr>
          <p:cNvPr id="3" name="AutoShape 3"/>
          <p:cNvSpPr/>
          <p:nvPr/>
        </p:nvSpPr>
        <p:spPr>
          <a:xfrm>
            <a:off x="1521023" y="2534409"/>
            <a:ext cx="4864100" cy="762000"/>
          </a:xfrm>
          <a:prstGeom prst="rect">
            <a:avLst/>
          </a:prstGeom>
          <a:noFill/>
          <a:ln w="9525" cap="flat" cmpd="sng">
            <a:noFill/>
            <a:prstDash val="solid"/>
            <a:round/>
          </a:ln>
        </p:spPr>
        <p:txBody>
          <a:bodyPr vert="horz" wrap="square" lIns="88900" tIns="88900" rIns="88900" bIns="88900" rtlCol="0" anchor="ctr" anchorCtr="0"/>
          <a:lstStyle/>
          <a:p>
            <a:pPr marL="0" indent="0" algn="ctr">
              <a:lnSpc>
                <a:spcPct val="116666"/>
              </a:lnSpc>
              <a:defRPr/>
            </a:pPr>
            <a:r>
              <a:rPr lang="en-US" sz="1200" b="0" i="0" u="none" strike="noStrike" dirty="0">
                <a:solidFill>
                  <a:srgbClr val="092241"/>
                </a:solidFill>
                <a:latin typeface="Manrope"/>
                <a:ea typeface="Manrope"/>
                <a:cs typeface="Manrope"/>
                <a:sym typeface="Manrope"/>
              </a:rPr>
              <a:t>Next-Generation system engineered to reimagine educational technology workflows, featuring scalable infrastructure and intuitive user interaction models for modern learning environments.</a:t>
            </a:r>
            <a:endParaRPr lang="en-US" sz="1100" dirty="0"/>
          </a:p>
        </p:txBody>
      </p:sp>
      <p:pic>
        <p:nvPicPr>
          <p:cNvPr id="44" name="Picture 43"/>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903546" y="3511015"/>
            <a:ext cx="2542650" cy="1678563"/>
          </a:xfrm>
          <a:prstGeom prst="rect">
            <a:avLst/>
          </a:prstGeom>
        </p:spPr>
      </p:pic>
      <p:pic>
        <p:nvPicPr>
          <p:cNvPr id="50" name="Picture 49"/>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6280721" y="1470863"/>
            <a:ext cx="2597394" cy="2040152"/>
          </a:xfrm>
          <a:prstGeom prst="rect">
            <a:avLst/>
          </a:prstGeom>
        </p:spPr>
      </p:pic>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8F8F8">
            <a:alpha val="100000"/>
          </a:srgbClr>
        </a:solidFill>
        <a:effectLst/>
      </p:bgPr>
    </p:bg>
    <p:spTree>
      <p:nvGrpSpPr>
        <p:cNvPr id="1" name=""/>
        <p:cNvGrpSpPr/>
        <p:nvPr/>
      </p:nvGrpSpPr>
      <p:grpSpPr>
        <a:xfrm>
          <a:off x="0" y="0"/>
          <a:ext cx="0" cy="0"/>
          <a:chOff x="0" y="0"/>
          <a:chExt cx="0" cy="0"/>
        </a:xfrm>
      </p:grpSpPr>
      <p:grpSp>
        <p:nvGrpSpPr>
          <p:cNvPr id="18" name="Group 17"/>
          <p:cNvGrpSpPr/>
          <p:nvPr/>
        </p:nvGrpSpPr>
        <p:grpSpPr>
          <a:xfrm>
            <a:off x="330200" y="286042"/>
            <a:ext cx="279400" cy="279400"/>
            <a:chOff x="1168400" y="1460500"/>
            <a:chExt cx="279400" cy="279400"/>
          </a:xfrm>
        </p:grpSpPr>
        <p:sp>
          <p:nvSpPr>
            <p:cNvPr id="2" name="AutoShape 2"/>
            <p:cNvSpPr/>
            <p:nvPr/>
          </p:nvSpPr>
          <p:spPr>
            <a:xfrm>
              <a:off x="1168400" y="1460500"/>
              <a:ext cx="76200" cy="76200"/>
            </a:xfrm>
            <a:prstGeom prst="ellipse">
              <a:avLst/>
            </a:prstGeom>
            <a:solidFill>
              <a:srgbClr val="6194E6">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1371600" y="1460500"/>
              <a:ext cx="76200" cy="76200"/>
            </a:xfrm>
            <a:prstGeom prst="ellipse">
              <a:avLst/>
            </a:prstGeom>
            <a:solidFill>
              <a:srgbClr val="6194E6">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4" name="AutoShape 4"/>
            <p:cNvSpPr/>
            <p:nvPr/>
          </p:nvSpPr>
          <p:spPr>
            <a:xfrm>
              <a:off x="1168400" y="1663700"/>
              <a:ext cx="76200" cy="76200"/>
            </a:xfrm>
            <a:prstGeom prst="ellipse">
              <a:avLst/>
            </a:prstGeom>
            <a:solidFill>
              <a:srgbClr val="6194E6">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5" name="AutoShape 5"/>
            <p:cNvSpPr/>
            <p:nvPr/>
          </p:nvSpPr>
          <p:spPr>
            <a:xfrm>
              <a:off x="1371600" y="1663700"/>
              <a:ext cx="76200" cy="76200"/>
            </a:xfrm>
            <a:prstGeom prst="ellipse">
              <a:avLst/>
            </a:prstGeom>
            <a:solidFill>
              <a:srgbClr val="6194E6">
                <a:alpha val="100000"/>
              </a:srgbClr>
            </a:solidFill>
            <a:ln w="25400" cap="flat" cmpd="sng">
              <a:noFill/>
              <a:prstDash val="solid"/>
              <a:round/>
            </a:ln>
          </p:spPr>
          <p:txBody>
            <a:bodyPr vert="horz" wrap="square" lIns="63500" tIns="63500" rIns="63500" bIns="63500" rtlCol="0" anchor="ctr"/>
            <a:lstStyle/>
            <a:p>
              <a:pPr algn="ctr">
                <a:defRPr/>
              </a:pPr>
              <a:endParaRPr/>
            </a:p>
          </p:txBody>
        </p:sp>
      </p:grpSp>
      <p:sp>
        <p:nvSpPr>
          <p:cNvPr id="17" name="AutoShape 4"/>
          <p:cNvSpPr/>
          <p:nvPr/>
        </p:nvSpPr>
        <p:spPr>
          <a:xfrm>
            <a:off x="12192" y="-62702"/>
            <a:ext cx="3810000" cy="5206202"/>
          </a:xfrm>
          <a:prstGeom prst="rtTriangle">
            <a:avLst/>
          </a:prstGeom>
          <a:solidFill>
            <a:srgbClr val="F3F4F6">
              <a:alpha val="100000"/>
            </a:srgbClr>
          </a:solidFill>
          <a:ln w="25400" cap="flat" cmpd="sng">
            <a:noFill/>
            <a:prstDash val="solid"/>
            <a:round/>
          </a:ln>
        </p:spPr>
        <p:txBody>
          <a:bodyPr vert="horz" wrap="square" lIns="0" tIns="0" rIns="0" bIns="0" rtlCol="0" anchor="ctr" anchorCtr="0"/>
          <a:lstStyle/>
          <a:p>
            <a:pPr algn="ctr">
              <a:defRPr/>
            </a:pPr>
            <a:endParaRPr/>
          </a:p>
        </p:txBody>
      </p:sp>
      <p:sp>
        <p:nvSpPr>
          <p:cNvPr id="7" name="AutoShape 7"/>
          <p:cNvSpPr/>
          <p:nvPr/>
        </p:nvSpPr>
        <p:spPr>
          <a:xfrm rot="-1200000">
            <a:off x="-279400" y="5054600"/>
            <a:ext cx="1778000" cy="381000"/>
          </a:xfrm>
          <a:prstGeom prst="roundRect">
            <a:avLst>
              <a:gd name="adj" fmla="val 43333"/>
            </a:avLst>
          </a:prstGeom>
          <a:solidFill>
            <a:srgbClr val="6194E6">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8" name="AutoShape 8"/>
          <p:cNvSpPr/>
          <p:nvPr/>
        </p:nvSpPr>
        <p:spPr>
          <a:xfrm rot="-1200000">
            <a:off x="-508000" y="4127500"/>
            <a:ext cx="1524000" cy="330200"/>
          </a:xfrm>
          <a:prstGeom prst="roundRect">
            <a:avLst>
              <a:gd name="adj" fmla="val 50000"/>
            </a:avLst>
          </a:prstGeom>
          <a:solidFill>
            <a:srgbClr val="6194E6">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9" name="AutoShape 9"/>
          <p:cNvSpPr/>
          <p:nvPr/>
        </p:nvSpPr>
        <p:spPr>
          <a:xfrm rot="-1200000">
            <a:off x="-330200" y="4622800"/>
            <a:ext cx="1270000" cy="355600"/>
          </a:xfrm>
          <a:prstGeom prst="roundRect">
            <a:avLst>
              <a:gd name="adj" fmla="val 53571"/>
            </a:avLst>
          </a:prstGeom>
          <a:solidFill>
            <a:srgbClr val="B7B7B7">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0" name="AutoShape 10"/>
          <p:cNvSpPr/>
          <p:nvPr/>
        </p:nvSpPr>
        <p:spPr>
          <a:xfrm>
            <a:off x="71382" y="1936502"/>
            <a:ext cx="2286000" cy="2286000"/>
          </a:xfrm>
          <a:prstGeom prst="ellipse">
            <a:avLst/>
          </a:prstGeom>
          <a:noFill/>
          <a:ln w="25400" cap="flat" cmpd="sng">
            <a:solidFill>
              <a:srgbClr val="DCDCDC">
                <a:alpha val="100000"/>
              </a:srgbClr>
            </a:solidFill>
            <a:prstDash val="solid"/>
            <a:round/>
          </a:ln>
        </p:spPr>
        <p:txBody>
          <a:bodyPr vert="horz" wrap="square" lIns="63500" tIns="63500" rIns="63500" bIns="63500" rtlCol="0" anchor="ctr"/>
          <a:lstStyle/>
          <a:p>
            <a:pPr algn="ctr">
              <a:defRPr/>
            </a:pPr>
            <a:endParaRPr/>
          </a:p>
        </p:txBody>
      </p:sp>
      <p:sp>
        <p:nvSpPr>
          <p:cNvPr id="11" name="AutoShape 11"/>
          <p:cNvSpPr/>
          <p:nvPr/>
        </p:nvSpPr>
        <p:spPr>
          <a:xfrm>
            <a:off x="77479" y="2226854"/>
            <a:ext cx="2286000" cy="1778000"/>
          </a:xfrm>
          <a:prstGeom prst="roundRect">
            <a:avLst>
              <a:gd name="adj" fmla="val 0"/>
            </a:avLst>
          </a:prstGeom>
          <a:noFill/>
          <a:ln w="25400" cap="flat" cmpd="sng">
            <a:noFill/>
            <a:prstDash val="solid"/>
            <a:round/>
          </a:ln>
        </p:spPr>
        <p:txBody>
          <a:bodyPr vert="horz" wrap="square" lIns="127000" tIns="127000" rIns="127000" bIns="127000" rtlCol="0" anchor="ctr" anchorCtr="0"/>
          <a:lstStyle/>
          <a:p>
            <a:pPr marL="0" indent="0" algn="ctr">
              <a:lnSpc>
                <a:spcPct val="116666"/>
              </a:lnSpc>
              <a:defRPr/>
            </a:pPr>
            <a:r>
              <a:rPr lang="en-US" sz="1400" b="1" i="0" u="none" strike="noStrike" dirty="0">
                <a:solidFill>
                  <a:schemeClr val="tx1">
                    <a:lumMod val="85000"/>
                    <a:lumOff val="15000"/>
                  </a:schemeClr>
                </a:solidFill>
                <a:latin typeface="Manrope"/>
                <a:ea typeface="Manrope"/>
                <a:cs typeface="Manrope"/>
                <a:sym typeface="Manrope"/>
              </a:rPr>
              <a:t>CORE VISION</a:t>
            </a:r>
            <a:endParaRPr lang="en-US" sz="1100" dirty="0">
              <a:solidFill>
                <a:schemeClr val="tx1">
                  <a:lumMod val="85000"/>
                  <a:lumOff val="15000"/>
                </a:schemeClr>
              </a:solidFill>
            </a:endParaRPr>
          </a:p>
          <a:p>
            <a:pPr marL="0" indent="0" algn="ctr">
              <a:lnSpc>
                <a:spcPct val="108333"/>
              </a:lnSpc>
            </a:pPr>
            <a:r>
              <a:rPr lang="en-US" sz="1200" b="0" i="0" u="none" strike="noStrike" dirty="0">
                <a:solidFill>
                  <a:schemeClr val="tx1">
                    <a:lumMod val="85000"/>
                    <a:lumOff val="15000"/>
                  </a:schemeClr>
                </a:solidFill>
                <a:latin typeface="Manrope"/>
                <a:ea typeface="Manrope"/>
                <a:cs typeface="Manrope"/>
                <a:sym typeface="Manrope"/>
              </a:rPr>
              <a:t>Connecting academic computer science rigor with the demands of modern, scalable full-stack development workflows.</a:t>
            </a:r>
          </a:p>
        </p:txBody>
      </p:sp>
      <p:sp>
        <p:nvSpPr>
          <p:cNvPr id="12" name="AutoShape 12"/>
          <p:cNvSpPr/>
          <p:nvPr/>
        </p:nvSpPr>
        <p:spPr>
          <a:xfrm>
            <a:off x="2279904" y="381000"/>
            <a:ext cx="5715000" cy="10160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00000"/>
              </a:lnSpc>
              <a:defRPr/>
            </a:pPr>
            <a:r>
              <a:rPr lang="en-US" sz="3600" b="1" i="0" u="none" strike="noStrike" dirty="0">
                <a:solidFill>
                  <a:srgbClr val="092241"/>
                </a:solidFill>
                <a:effectLst>
                  <a:outerShdw blurRad="38100" dist="38100" dir="2700000" algn="tl" rotWithShape="0">
                    <a:srgbClr val="000000">
                      <a:alpha val="43100"/>
                    </a:srgbClr>
                  </a:outerShdw>
                </a:effectLst>
                <a:latin typeface="Archivo Black"/>
                <a:ea typeface="Archivo Black"/>
                <a:cs typeface="Archivo Black"/>
                <a:sym typeface="Archivo Black"/>
              </a:rPr>
              <a:t>Internship Scope &amp; Mandate</a:t>
            </a:r>
            <a:endParaRPr lang="en-US" sz="1100" dirty="0"/>
          </a:p>
        </p:txBody>
      </p:sp>
      <p:sp>
        <p:nvSpPr>
          <p:cNvPr id="13" name="AutoShape 13"/>
          <p:cNvSpPr/>
          <p:nvPr/>
        </p:nvSpPr>
        <p:spPr>
          <a:xfrm>
            <a:off x="2253217" y="1517650"/>
            <a:ext cx="5715000" cy="762000"/>
          </a:xfrm>
          <a:prstGeom prst="roundRect">
            <a:avLst>
              <a:gd name="adj" fmla="val 0"/>
            </a:avLst>
          </a:prstGeom>
          <a:noFill/>
          <a:ln w="25400" cap="flat" cmpd="sng">
            <a:noFill/>
            <a:prstDash val="solid"/>
            <a:round/>
          </a:ln>
        </p:spPr>
        <p:txBody>
          <a:bodyPr vert="horz" wrap="square" lIns="127000" tIns="0" rIns="127000" bIns="0" rtlCol="0" anchor="t" anchorCtr="0"/>
          <a:lstStyle/>
          <a:p>
            <a:pPr marL="0" indent="0" algn="l">
              <a:lnSpc>
                <a:spcPct val="108333"/>
              </a:lnSpc>
              <a:defRPr/>
            </a:pPr>
            <a:r>
              <a:rPr lang="en-US" sz="1600" b="0" i="0" u="none" strike="noStrike" dirty="0">
                <a:solidFill>
                  <a:srgbClr val="595959"/>
                </a:solidFill>
                <a:latin typeface="Manrope"/>
                <a:ea typeface="Manrope"/>
                <a:cs typeface="Manrope"/>
                <a:sym typeface="Manrope"/>
              </a:rPr>
              <a:t>Strategic Engineering Objectives</a:t>
            </a:r>
            <a:endParaRPr lang="en-US" sz="1100" dirty="0"/>
          </a:p>
        </p:txBody>
      </p:sp>
      <p:sp>
        <p:nvSpPr>
          <p:cNvPr id="14" name="AutoShape 14"/>
          <p:cNvSpPr/>
          <p:nvPr/>
        </p:nvSpPr>
        <p:spPr>
          <a:xfrm>
            <a:off x="7359904" y="807756"/>
            <a:ext cx="1270000" cy="762000"/>
          </a:xfrm>
          <a:prstGeom prst="roundRect">
            <a:avLst>
              <a:gd name="adj" fmla="val 26666"/>
            </a:avLst>
          </a:prstGeom>
          <a:solidFill>
            <a:srgbClr val="6194E6">
              <a:alpha val="100000"/>
            </a:srgbClr>
          </a:solidFill>
          <a:ln w="25400" cap="flat" cmpd="sng">
            <a:noFill/>
            <a:prstDash val="solid"/>
            <a:round/>
          </a:ln>
          <a:effectLst>
            <a:outerShdw blurRad="50800" dist="38100" dir="8100000" algn="tr" rotWithShape="0">
              <a:srgbClr val="000000">
                <a:alpha val="40000"/>
              </a:srgbClr>
            </a:outerShdw>
          </a:effectLst>
        </p:spPr>
        <p:txBody>
          <a:bodyPr vert="horz" wrap="square" lIns="0" tIns="0" rIns="0" bIns="0" rtlCol="0" anchor="ctr" anchorCtr="0"/>
          <a:lstStyle/>
          <a:p>
            <a:pPr marL="0" indent="0" algn="ctr">
              <a:lnSpc>
                <a:spcPct val="125000"/>
              </a:lnSpc>
              <a:defRPr/>
            </a:pPr>
            <a:r>
              <a:rPr lang="en-US" sz="2800" b="1" i="0" u="none" strike="noStrike" dirty="0">
                <a:solidFill>
                  <a:srgbClr val="FFFFFF"/>
                </a:solidFill>
                <a:effectLst>
                  <a:outerShdw blurRad="38100" dist="38100" dir="2700000" algn="tl" rotWithShape="0">
                    <a:srgbClr val="000000">
                      <a:alpha val="43100"/>
                    </a:srgbClr>
                  </a:outerShdw>
                </a:effectLst>
                <a:latin typeface="Archivo Black"/>
                <a:ea typeface="Archivo Black"/>
                <a:cs typeface="Archivo Black"/>
                <a:sym typeface="Archivo Black"/>
              </a:rPr>
              <a:t>01</a:t>
            </a:r>
            <a:endParaRPr lang="en-US" sz="1100" dirty="0"/>
          </a:p>
        </p:txBody>
      </p:sp>
      <p:sp>
        <p:nvSpPr>
          <p:cNvPr id="15" name="AutoShape 15"/>
          <p:cNvSpPr/>
          <p:nvPr/>
        </p:nvSpPr>
        <p:spPr>
          <a:xfrm>
            <a:off x="2927929" y="1938419"/>
            <a:ext cx="5842000" cy="1397000"/>
          </a:xfrm>
          <a:prstGeom prst="roundRect">
            <a:avLst>
              <a:gd name="adj" fmla="val 0"/>
            </a:avLst>
          </a:prstGeom>
          <a:solidFill>
            <a:srgbClr val="EBF2FA">
              <a:alpha val="100000"/>
            </a:srgbClr>
          </a:solidFill>
          <a:ln w="25400" cap="flat" cmpd="sng">
            <a:noFill/>
            <a:prstDash val="solid"/>
            <a:round/>
          </a:ln>
        </p:spPr>
        <p:txBody>
          <a:bodyPr vert="horz" wrap="square" lIns="190500" tIns="152400" rIns="190500" bIns="152400" rtlCol="0" anchor="ctr" anchorCtr="0"/>
          <a:lstStyle/>
          <a:p>
            <a:pPr marL="0" indent="0" algn="l">
              <a:lnSpc>
                <a:spcPct val="116666"/>
              </a:lnSpc>
              <a:defRPr/>
            </a:pPr>
            <a:r>
              <a:rPr lang="en-US" sz="1400" b="1" i="0" u="none" strike="noStrike" dirty="0">
                <a:solidFill>
                  <a:srgbClr val="092241"/>
                </a:solidFill>
                <a:latin typeface="Manrope"/>
                <a:ea typeface="Manrope"/>
                <a:cs typeface="Manrope"/>
                <a:sym typeface="Manrope"/>
              </a:rPr>
              <a:t>Mission &amp; Execution Focus</a:t>
            </a:r>
            <a:endParaRPr lang="en-US" sz="1100" dirty="0"/>
          </a:p>
          <a:p>
            <a:pPr marL="0" indent="0" algn="l">
              <a:lnSpc>
                <a:spcPct val="108333"/>
              </a:lnSpc>
            </a:pPr>
            <a:r>
              <a:rPr lang="en-US" sz="1200" b="0" i="0" u="none" strike="noStrike" dirty="0">
                <a:solidFill>
                  <a:srgbClr val="2D3748"/>
                </a:solidFill>
                <a:latin typeface="Manrope"/>
                <a:ea typeface="Manrope"/>
                <a:cs typeface="Manrope"/>
                <a:sym typeface="Manrope"/>
              </a:rPr>
              <a:t>Bridging the gap between theoretical computer science and real-world agile full-stack production pipelines. The mandate was to design a clean, fast, and secure multi-role web platform, optimized for low-latency environments. This required translating academic knowledge into engineering solutions that meet enterprise standards for both performance efficiency and data security.</a:t>
            </a:r>
          </a:p>
        </p:txBody>
      </p:sp>
      <p:sp>
        <p:nvSpPr>
          <p:cNvPr id="16" name="AutoShape 16"/>
          <p:cNvSpPr/>
          <p:nvPr/>
        </p:nvSpPr>
        <p:spPr>
          <a:xfrm>
            <a:off x="2927929" y="3628863"/>
            <a:ext cx="5842000" cy="1079500"/>
          </a:xfrm>
          <a:prstGeom prst="roundRect">
            <a:avLst>
              <a:gd name="adj" fmla="val 0"/>
            </a:avLst>
          </a:prstGeom>
          <a:solidFill>
            <a:srgbClr val="6194E6">
              <a:alpha val="12000"/>
            </a:srgbClr>
          </a:solidFill>
          <a:ln w="25400" cap="flat" cmpd="sng">
            <a:noFill/>
            <a:prstDash val="solid"/>
            <a:round/>
          </a:ln>
        </p:spPr>
        <p:txBody>
          <a:bodyPr vert="horz" wrap="square" lIns="190500" tIns="127000" rIns="190500" bIns="127000" rtlCol="0" anchor="ctr" anchorCtr="0"/>
          <a:lstStyle/>
          <a:p>
            <a:pPr marL="0" indent="0" algn="l">
              <a:lnSpc>
                <a:spcPct val="108333"/>
              </a:lnSpc>
              <a:defRPr/>
            </a:pPr>
            <a:r>
              <a:rPr lang="en-US" sz="1300" b="1" i="0" u="none" strike="noStrike">
                <a:solidFill>
                  <a:srgbClr val="092241"/>
                </a:solidFill>
                <a:latin typeface="Manrope"/>
                <a:ea typeface="Manrope"/>
                <a:cs typeface="Manrope"/>
                <a:sym typeface="Manrope"/>
              </a:rPr>
              <a:t>Outcome Target:</a:t>
            </a:r>
            <a:r>
              <a:rPr lang="en-US" sz="1200" b="0" i="0" u="none" strike="noStrike">
                <a:solidFill>
                  <a:srgbClr val="3C4655"/>
                </a:solidFill>
                <a:latin typeface="Manrope"/>
                <a:ea typeface="Manrope"/>
                <a:cs typeface="Manrope"/>
                <a:sym typeface="Manrope"/>
              </a:rPr>
              <a:t>Engineer a production-ready system that not only solves immediate operational challenges but also establishes a scalable foundation for future feature iterations and cross-functional integration.</a:t>
            </a:r>
            <a:endParaRPr lang="en-US" sz="110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8F8F8">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36576" y="228799"/>
            <a:ext cx="9144000" cy="7620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ctr">
              <a:lnSpc>
                <a:spcPct val="100000"/>
              </a:lnSpc>
              <a:defRPr/>
            </a:pPr>
            <a:r>
              <a:rPr lang="en-US" sz="3200" b="0" i="0" u="none" strike="noStrike" dirty="0">
                <a:solidFill>
                  <a:srgbClr val="092241"/>
                </a:solidFill>
                <a:effectLst>
                  <a:outerShdw blurRad="38100" dist="38100" dir="2700000" algn="tl" rotWithShape="0">
                    <a:srgbClr val="000000">
                      <a:alpha val="43100"/>
                    </a:srgbClr>
                  </a:outerShdw>
                </a:effectLst>
                <a:latin typeface="Arial"/>
                <a:ea typeface="Arial"/>
                <a:cs typeface="Arial"/>
                <a:sym typeface="Arial"/>
              </a:rPr>
              <a:t>Multi-Tenant Ecosystem</a:t>
            </a:r>
            <a:endParaRPr lang="en-US" sz="1100" dirty="0"/>
          </a:p>
        </p:txBody>
      </p:sp>
      <p:sp>
        <p:nvSpPr>
          <p:cNvPr id="4" name="AutoShape 4"/>
          <p:cNvSpPr/>
          <p:nvPr/>
        </p:nvSpPr>
        <p:spPr>
          <a:xfrm>
            <a:off x="180922" y="873047"/>
            <a:ext cx="3048000" cy="5080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ctr">
              <a:lnSpc>
                <a:spcPct val="100000"/>
              </a:lnSpc>
              <a:defRPr/>
            </a:pPr>
            <a:r>
              <a:rPr lang="en-US" sz="2000" b="1" i="0" u="none" strike="noStrike" dirty="0">
                <a:solidFill>
                  <a:srgbClr val="092241"/>
                </a:solidFill>
                <a:latin typeface="Archivo Narrow"/>
                <a:ea typeface="Archivo Narrow"/>
                <a:cs typeface="Archivo Narrow"/>
                <a:sym typeface="Archivo Narrow"/>
              </a:rPr>
              <a:t>Admin Node</a:t>
            </a:r>
            <a:endParaRPr lang="en-US" sz="1100" dirty="0"/>
          </a:p>
        </p:txBody>
      </p:sp>
      <p:sp>
        <p:nvSpPr>
          <p:cNvPr id="5" name="AutoShape 5"/>
          <p:cNvSpPr/>
          <p:nvPr/>
        </p:nvSpPr>
        <p:spPr>
          <a:xfrm>
            <a:off x="381799" y="1335821"/>
            <a:ext cx="4634338" cy="958851"/>
          </a:xfrm>
          <a:prstGeom prst="roundRect">
            <a:avLst>
              <a:gd name="adj" fmla="val 0"/>
            </a:avLst>
          </a:prstGeom>
          <a:noFill/>
          <a:ln w="25400" cap="flat" cmpd="sng">
            <a:noFill/>
            <a:prstDash val="solid"/>
            <a:round/>
          </a:ln>
        </p:spPr>
        <p:txBody>
          <a:bodyPr vert="horz" wrap="square" lIns="0" tIns="0" rIns="0" bIns="0" rtlCol="0" anchor="t" anchorCtr="0"/>
          <a:lstStyle/>
          <a:p>
            <a:pPr marL="0" indent="0">
              <a:lnSpc>
                <a:spcPct val="116666"/>
              </a:lnSpc>
              <a:defRPr/>
            </a:pPr>
            <a:r>
              <a:rPr lang="en-US" sz="1200" b="0" i="0" u="none" strike="noStrike" dirty="0">
                <a:solidFill>
                  <a:srgbClr val="333333"/>
                </a:solidFill>
                <a:latin typeface="Noto Sans SC"/>
                <a:ea typeface="Noto Sans SC"/>
                <a:cs typeface="Noto Sans SC"/>
                <a:sym typeface="Noto Sans SC"/>
              </a:rPr>
              <a:t>Provides infrastructure auditing, account state toggles, and live server telemetry data blocks. This core governance layer ensures the stability and security of the entire multi-tenant environment.</a:t>
            </a:r>
            <a:endParaRPr lang="en-US" sz="1050" dirty="0"/>
          </a:p>
        </p:txBody>
      </p:sp>
      <p:sp>
        <p:nvSpPr>
          <p:cNvPr id="7" name="AutoShape 7"/>
          <p:cNvSpPr/>
          <p:nvPr/>
        </p:nvSpPr>
        <p:spPr>
          <a:xfrm>
            <a:off x="114300" y="2067895"/>
            <a:ext cx="3048000" cy="5080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ctr">
              <a:lnSpc>
                <a:spcPct val="100000"/>
              </a:lnSpc>
              <a:defRPr/>
            </a:pPr>
            <a:r>
              <a:rPr lang="en-US" sz="2000" b="1" i="0" u="none" strike="noStrike" dirty="0">
                <a:solidFill>
                  <a:srgbClr val="092241"/>
                </a:solidFill>
                <a:latin typeface="Archivo Narrow"/>
                <a:ea typeface="Archivo Narrow"/>
                <a:cs typeface="Archivo Narrow"/>
                <a:sym typeface="Archivo Narrow"/>
              </a:rPr>
              <a:t>Teacher Hub</a:t>
            </a:r>
            <a:endParaRPr lang="en-US" sz="1100" dirty="0"/>
          </a:p>
        </p:txBody>
      </p:sp>
      <p:sp>
        <p:nvSpPr>
          <p:cNvPr id="8" name="AutoShape 8"/>
          <p:cNvSpPr/>
          <p:nvPr/>
        </p:nvSpPr>
        <p:spPr>
          <a:xfrm>
            <a:off x="381798" y="2577511"/>
            <a:ext cx="4874695" cy="1397000"/>
          </a:xfrm>
          <a:prstGeom prst="roundRect">
            <a:avLst>
              <a:gd name="adj" fmla="val 0"/>
            </a:avLst>
          </a:prstGeom>
          <a:noFill/>
          <a:ln w="25400" cap="flat" cmpd="sng">
            <a:noFill/>
            <a:prstDash val="solid"/>
            <a:round/>
          </a:ln>
        </p:spPr>
        <p:txBody>
          <a:bodyPr vert="horz" wrap="square" lIns="0" tIns="0" rIns="0" bIns="0" rtlCol="0" anchor="t" anchorCtr="0"/>
          <a:lstStyle/>
          <a:p>
            <a:pPr marL="0" indent="0">
              <a:lnSpc>
                <a:spcPct val="116666"/>
              </a:lnSpc>
              <a:defRPr/>
            </a:pPr>
            <a:r>
              <a:rPr lang="en-US" sz="1200" b="0" i="0" u="none" strike="noStrike" dirty="0">
                <a:solidFill>
                  <a:srgbClr val="333333"/>
                </a:solidFill>
                <a:latin typeface="Noto Sans SC"/>
                <a:ea typeface="Noto Sans SC"/>
                <a:cs typeface="Noto Sans SC"/>
                <a:sym typeface="Noto Sans SC"/>
              </a:rPr>
              <a:t>Features curriculum deployment engines, relational class rosters, and live gradebook modules. It streamlines academic operations, enabling educators to manage courses and student progress with precision.</a:t>
            </a:r>
            <a:endParaRPr lang="en-US" sz="1050" dirty="0"/>
          </a:p>
        </p:txBody>
      </p:sp>
      <p:sp>
        <p:nvSpPr>
          <p:cNvPr id="10" name="AutoShape 10"/>
          <p:cNvSpPr/>
          <p:nvPr/>
        </p:nvSpPr>
        <p:spPr>
          <a:xfrm>
            <a:off x="220544" y="3579397"/>
            <a:ext cx="3043793" cy="5080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ctr">
              <a:lnSpc>
                <a:spcPct val="100000"/>
              </a:lnSpc>
              <a:defRPr/>
            </a:pPr>
            <a:r>
              <a:rPr lang="en-US" sz="2000" b="1" i="0" u="none" strike="noStrike" dirty="0">
                <a:solidFill>
                  <a:srgbClr val="092241"/>
                </a:solidFill>
                <a:latin typeface="Archivo Narrow"/>
                <a:ea typeface="Archivo Narrow"/>
                <a:cs typeface="Archivo Narrow"/>
                <a:sym typeface="Archivo Narrow"/>
              </a:rPr>
              <a:t>Student Panel</a:t>
            </a:r>
            <a:endParaRPr lang="en-US" sz="1100" dirty="0"/>
          </a:p>
        </p:txBody>
      </p:sp>
      <p:sp>
        <p:nvSpPr>
          <p:cNvPr id="11" name="AutoShape 11"/>
          <p:cNvSpPr/>
          <p:nvPr/>
        </p:nvSpPr>
        <p:spPr>
          <a:xfrm>
            <a:off x="342702" y="4076181"/>
            <a:ext cx="4971268" cy="1143000"/>
          </a:xfrm>
          <a:prstGeom prst="roundRect">
            <a:avLst>
              <a:gd name="adj" fmla="val 0"/>
            </a:avLst>
          </a:prstGeom>
          <a:noFill/>
          <a:ln w="25400" cap="flat" cmpd="sng">
            <a:noFill/>
            <a:prstDash val="solid"/>
            <a:round/>
          </a:ln>
        </p:spPr>
        <p:txBody>
          <a:bodyPr vert="horz" wrap="square" lIns="0" tIns="0" rIns="0" bIns="0" rtlCol="0" anchor="t" anchorCtr="0"/>
          <a:lstStyle/>
          <a:p>
            <a:pPr marL="0" indent="0">
              <a:lnSpc>
                <a:spcPct val="116666"/>
              </a:lnSpc>
              <a:defRPr/>
            </a:pPr>
            <a:r>
              <a:rPr lang="en-US" sz="1200" b="0" i="0" u="none" strike="noStrike" dirty="0">
                <a:solidFill>
                  <a:srgbClr val="333333"/>
                </a:solidFill>
                <a:latin typeface="Noto Sans SC"/>
                <a:ea typeface="Noto Sans SC"/>
                <a:cs typeface="Noto Sans SC"/>
                <a:sym typeface="Noto Sans SC"/>
              </a:rPr>
              <a:t>Includes dynamic course discovery grids, progressive learning path charts, and grade distribution trackers. This user-centric interface offers personalized navigation and real-time insights into academic achievements.</a:t>
            </a:r>
            <a:endParaRPr lang="en-US" sz="1050" dirty="0"/>
          </a:p>
        </p:txBody>
      </p:sp>
      <p:pic>
        <p:nvPicPr>
          <p:cNvPr id="12" name="Picture 11"/>
          <p:cNvPicPr>
            <a:picLocks noChangeAspect="1"/>
          </p:cNvPicPr>
          <p:nvPr/>
        </p:nvPicPr>
        <p:blipFill>
          <a:blip r:embed="rId3"/>
          <a:stretch>
            <a:fillRect/>
          </a:stretch>
        </p:blipFill>
        <p:spPr>
          <a:xfrm>
            <a:off x="381799" y="809064"/>
            <a:ext cx="459450" cy="459450"/>
          </a:xfrm>
          <a:prstGeom prst="rect">
            <a:avLst/>
          </a:prstGeom>
        </p:spPr>
      </p:pic>
      <p:pic>
        <p:nvPicPr>
          <p:cNvPr id="13" name="Picture 12"/>
          <p:cNvPicPr>
            <a:picLocks noChangeAspect="1"/>
          </p:cNvPicPr>
          <p:nvPr/>
        </p:nvPicPr>
        <p:blipFill>
          <a:blip r:embed="rId4"/>
          <a:stretch>
            <a:fillRect/>
          </a:stretch>
        </p:blipFill>
        <p:spPr>
          <a:xfrm>
            <a:off x="381799" y="2132981"/>
            <a:ext cx="403207" cy="403207"/>
          </a:xfrm>
          <a:prstGeom prst="rect">
            <a:avLst/>
          </a:prstGeom>
        </p:spPr>
      </p:pic>
      <p:pic>
        <p:nvPicPr>
          <p:cNvPr id="15" name="Picture 14"/>
          <p:cNvPicPr>
            <a:picLocks noChangeAspect="1"/>
          </p:cNvPicPr>
          <p:nvPr/>
        </p:nvPicPr>
        <p:blipFill>
          <a:blip r:embed="rId5"/>
          <a:stretch>
            <a:fillRect/>
          </a:stretch>
        </p:blipFill>
        <p:spPr>
          <a:xfrm rot="10800000" flipV="1">
            <a:off x="342701" y="3594779"/>
            <a:ext cx="480738" cy="481402"/>
          </a:xfrm>
          <a:prstGeom prst="rect">
            <a:avLst/>
          </a:prstGeom>
        </p:spPr>
      </p:pic>
      <p:pic>
        <p:nvPicPr>
          <p:cNvPr id="3" name="Picture 2"/>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5135917" y="1998308"/>
            <a:ext cx="3919256" cy="2395101"/>
          </a:xfrm>
          <a:prstGeom prst="rect">
            <a:avLst/>
          </a:prstGeom>
        </p:spPr>
      </p:pic>
      <p:pic>
        <p:nvPicPr>
          <p:cNvPr id="9" name="Picture 8"/>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6310166" y="320911"/>
            <a:ext cx="2363569" cy="1812070"/>
          </a:xfrm>
          <a:prstGeom prst="rect">
            <a:avLst/>
          </a:prstGeom>
        </p:spPr>
      </p:pic>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8F8F8">
            <a:alpha val="100000"/>
          </a:srgbClr>
        </a:solidFill>
        <a:effectLst/>
      </p:bgPr>
    </p:bg>
    <p:spTree>
      <p:nvGrpSpPr>
        <p:cNvPr id="1" name=""/>
        <p:cNvGrpSpPr/>
        <p:nvPr/>
      </p:nvGrpSpPr>
      <p:grpSpPr>
        <a:xfrm>
          <a:off x="0" y="0"/>
          <a:ext cx="0" cy="0"/>
          <a:chOff x="0" y="0"/>
          <a:chExt cx="0" cy="0"/>
        </a:xfrm>
      </p:grpSpPr>
      <p:sp>
        <p:nvSpPr>
          <p:cNvPr id="5" name="AutoShape 5"/>
          <p:cNvSpPr/>
          <p:nvPr/>
        </p:nvSpPr>
        <p:spPr>
          <a:xfrm>
            <a:off x="139700" y="825500"/>
            <a:ext cx="101600" cy="101600"/>
          </a:xfrm>
          <a:prstGeom prst="ellipse">
            <a:avLst/>
          </a:prstGeom>
          <a:solidFill>
            <a:srgbClr val="6194E6">
              <a:alpha val="100000"/>
            </a:srgbClr>
          </a:solidFill>
          <a:ln w="25400" cap="flat" cmpd="sng">
            <a:noFill/>
            <a:prstDash val="solid"/>
            <a:round/>
          </a:ln>
        </p:spPr>
        <p:txBody>
          <a:bodyPr vert="horz" wrap="square" lIns="63500" tIns="63500" rIns="63500" bIns="63500" rtlCol="0" anchor="ctr"/>
          <a:lstStyle/>
          <a:p>
            <a:pPr algn="ctr">
              <a:defRPr/>
            </a:pPr>
            <a:endParaRPr/>
          </a:p>
        </p:txBody>
      </p:sp>
      <p:grpSp>
        <p:nvGrpSpPr>
          <p:cNvPr id="23" name="Group 22"/>
          <p:cNvGrpSpPr/>
          <p:nvPr/>
        </p:nvGrpSpPr>
        <p:grpSpPr>
          <a:xfrm>
            <a:off x="254000" y="698500"/>
            <a:ext cx="609600" cy="355600"/>
            <a:chOff x="139700" y="571500"/>
            <a:chExt cx="609600" cy="355600"/>
          </a:xfrm>
        </p:grpSpPr>
        <p:sp>
          <p:nvSpPr>
            <p:cNvPr id="2" name="AutoShape 2"/>
            <p:cNvSpPr/>
            <p:nvPr/>
          </p:nvSpPr>
          <p:spPr>
            <a:xfrm>
              <a:off x="139700" y="571500"/>
              <a:ext cx="101600" cy="101600"/>
            </a:xfrm>
            <a:prstGeom prst="ellipse">
              <a:avLst/>
            </a:prstGeom>
            <a:solidFill>
              <a:srgbClr val="6194E6">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393700" y="571500"/>
              <a:ext cx="101600" cy="101600"/>
            </a:xfrm>
            <a:prstGeom prst="ellipse">
              <a:avLst/>
            </a:prstGeom>
            <a:solidFill>
              <a:srgbClr val="6194E6">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4" name="AutoShape 4"/>
            <p:cNvSpPr/>
            <p:nvPr/>
          </p:nvSpPr>
          <p:spPr>
            <a:xfrm>
              <a:off x="647700" y="571500"/>
              <a:ext cx="101600" cy="101600"/>
            </a:xfrm>
            <a:prstGeom prst="ellipse">
              <a:avLst/>
            </a:prstGeom>
            <a:solidFill>
              <a:srgbClr val="6194E6">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6" name="AutoShape 6"/>
            <p:cNvSpPr/>
            <p:nvPr/>
          </p:nvSpPr>
          <p:spPr>
            <a:xfrm>
              <a:off x="393700" y="825500"/>
              <a:ext cx="101600" cy="101600"/>
            </a:xfrm>
            <a:prstGeom prst="ellipse">
              <a:avLst/>
            </a:prstGeom>
            <a:solidFill>
              <a:srgbClr val="6194E6">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7" name="AutoShape 7"/>
            <p:cNvSpPr/>
            <p:nvPr/>
          </p:nvSpPr>
          <p:spPr>
            <a:xfrm>
              <a:off x="647700" y="825500"/>
              <a:ext cx="101600" cy="101600"/>
            </a:xfrm>
            <a:prstGeom prst="ellipse">
              <a:avLst/>
            </a:prstGeom>
            <a:solidFill>
              <a:srgbClr val="6194E6">
                <a:alpha val="100000"/>
              </a:srgbClr>
            </a:solidFill>
            <a:ln w="25400" cap="flat" cmpd="sng">
              <a:noFill/>
              <a:prstDash val="solid"/>
              <a:round/>
            </a:ln>
          </p:spPr>
          <p:txBody>
            <a:bodyPr vert="horz" wrap="square" lIns="63500" tIns="63500" rIns="63500" bIns="63500" rtlCol="0" anchor="ctr"/>
            <a:lstStyle/>
            <a:p>
              <a:pPr algn="ctr">
                <a:defRPr/>
              </a:pPr>
              <a:endParaRPr/>
            </a:p>
          </p:txBody>
        </p:sp>
      </p:grpSp>
      <p:sp>
        <p:nvSpPr>
          <p:cNvPr id="8" name="AutoShape 8"/>
          <p:cNvSpPr/>
          <p:nvPr/>
        </p:nvSpPr>
        <p:spPr>
          <a:xfrm rot="-1200000">
            <a:off x="3289300" y="4533900"/>
            <a:ext cx="1778000" cy="127000"/>
          </a:xfrm>
          <a:prstGeom prst="roundRect">
            <a:avLst>
              <a:gd name="adj" fmla="val 130000"/>
            </a:avLst>
          </a:prstGeom>
          <a:solidFill>
            <a:srgbClr val="6194E6">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9" name="AutoShape 9"/>
          <p:cNvSpPr/>
          <p:nvPr/>
        </p:nvSpPr>
        <p:spPr>
          <a:xfrm rot="-1200000">
            <a:off x="2806700" y="4305300"/>
            <a:ext cx="1397000" cy="101600"/>
          </a:xfrm>
          <a:prstGeom prst="roundRect">
            <a:avLst>
              <a:gd name="adj" fmla="val 162500"/>
            </a:avLst>
          </a:prstGeom>
          <a:solidFill>
            <a:srgbClr val="6194E6">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0" name="AutoShape 10"/>
          <p:cNvSpPr/>
          <p:nvPr/>
        </p:nvSpPr>
        <p:spPr>
          <a:xfrm rot="-1200000">
            <a:off x="3746500" y="4826000"/>
            <a:ext cx="1143000" cy="76200"/>
          </a:xfrm>
          <a:prstGeom prst="roundRect">
            <a:avLst>
              <a:gd name="adj" fmla="val 316666"/>
            </a:avLst>
          </a:prstGeom>
          <a:solidFill>
            <a:srgbClr val="C8C8C8">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1" name="AutoShape 11"/>
          <p:cNvSpPr/>
          <p:nvPr/>
        </p:nvSpPr>
        <p:spPr>
          <a:xfrm rot="-1200000">
            <a:off x="3441700" y="4343400"/>
            <a:ext cx="1270000" cy="76200"/>
          </a:xfrm>
          <a:prstGeom prst="roundRect">
            <a:avLst>
              <a:gd name="adj" fmla="val 316666"/>
            </a:avLst>
          </a:prstGeom>
          <a:solidFill>
            <a:srgbClr val="C8C8C8">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2" name="AutoShape 12"/>
          <p:cNvSpPr/>
          <p:nvPr/>
        </p:nvSpPr>
        <p:spPr>
          <a:xfrm>
            <a:off x="12700" y="135854"/>
            <a:ext cx="1270000" cy="1270000"/>
          </a:xfrm>
          <a:prstGeom prst="ellipse">
            <a:avLst/>
          </a:prstGeom>
          <a:noFill/>
          <a:ln w="25400" cap="flat" cmpd="sng">
            <a:solidFill>
              <a:srgbClr val="6194E6">
                <a:alpha val="100000"/>
              </a:srgbClr>
            </a:solidFill>
            <a:prstDash val="dash"/>
            <a:round/>
          </a:ln>
        </p:spPr>
        <p:txBody>
          <a:bodyPr vert="horz" wrap="square" lIns="63500" tIns="63500" rIns="63500" bIns="63500" rtlCol="0" anchor="ctr"/>
          <a:lstStyle/>
          <a:p>
            <a:pPr algn="ctr">
              <a:defRPr/>
            </a:pPr>
            <a:endParaRPr/>
          </a:p>
        </p:txBody>
      </p:sp>
      <p:sp>
        <p:nvSpPr>
          <p:cNvPr id="13" name="AutoShape 13"/>
          <p:cNvSpPr/>
          <p:nvPr/>
        </p:nvSpPr>
        <p:spPr>
          <a:xfrm>
            <a:off x="1524000" y="317500"/>
            <a:ext cx="5715000" cy="10160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91666"/>
              </a:lnSpc>
              <a:defRPr/>
            </a:pPr>
            <a:r>
              <a:rPr lang="en-US" sz="3600" b="0" i="0" u="none" strike="noStrike">
                <a:solidFill>
                  <a:srgbClr val="092241"/>
                </a:solidFill>
                <a:effectLst>
                  <a:outerShdw blurRad="38100" dist="38100" dir="2700000" algn="tl" rotWithShape="0">
                    <a:srgbClr val="000000">
                      <a:alpha val="43100"/>
                    </a:srgbClr>
                  </a:outerShdw>
                </a:effectLst>
                <a:latin typeface="Archivo Black"/>
                <a:ea typeface="Archivo Black"/>
                <a:cs typeface="Archivo Black"/>
                <a:sym typeface="Archivo Black"/>
              </a:rPr>
              <a:t>The Technology Matrix</a:t>
            </a:r>
            <a:endParaRPr lang="en-US" sz="1100"/>
          </a:p>
        </p:txBody>
      </p:sp>
      <p:sp>
        <p:nvSpPr>
          <p:cNvPr id="14" name="AutoShape 14"/>
          <p:cNvSpPr/>
          <p:nvPr/>
        </p:nvSpPr>
        <p:spPr>
          <a:xfrm>
            <a:off x="1638300" y="1206500"/>
            <a:ext cx="5715000" cy="762000"/>
          </a:xfrm>
          <a:prstGeom prst="roundRect">
            <a:avLst>
              <a:gd name="adj" fmla="val 0"/>
            </a:avLst>
          </a:prstGeom>
          <a:noFill/>
          <a:ln w="25400" cap="flat" cmpd="sng">
            <a:noFill/>
            <a:prstDash val="solid"/>
            <a:round/>
          </a:ln>
        </p:spPr>
        <p:txBody>
          <a:bodyPr vert="horz" wrap="square" lIns="0" tIns="0" rIns="0" bIns="0" rtlCol="0" anchor="t" anchorCtr="0"/>
          <a:lstStyle/>
          <a:p>
            <a:pPr marL="0" indent="0" algn="l">
              <a:lnSpc>
                <a:spcPct val="108333"/>
              </a:lnSpc>
              <a:defRPr/>
            </a:pPr>
            <a:r>
              <a:rPr lang="en-US" sz="2000" b="0" i="0" u="none" strike="noStrike">
                <a:solidFill>
                  <a:srgbClr val="505050"/>
                </a:solidFill>
                <a:latin typeface="Noto Sans SC"/>
                <a:ea typeface="Noto Sans SC"/>
                <a:cs typeface="Noto Sans SC"/>
                <a:sym typeface="Noto Sans SC"/>
              </a:rPr>
              <a:t>Advanced Architectural Stack</a:t>
            </a:r>
            <a:endParaRPr lang="en-US" sz="1100"/>
          </a:p>
        </p:txBody>
      </p:sp>
      <p:sp>
        <p:nvSpPr>
          <p:cNvPr id="15" name="AutoShape 15"/>
          <p:cNvSpPr/>
          <p:nvPr/>
        </p:nvSpPr>
        <p:spPr>
          <a:xfrm>
            <a:off x="0" y="571500"/>
            <a:ext cx="4572000" cy="4572000"/>
          </a:xfrm>
          <a:prstGeom prst="rtTriangle">
            <a:avLst/>
          </a:prstGeom>
          <a:solidFill>
            <a:srgbClr val="092241">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16" name="Picture 16"/>
          <p:cNvPicPr>
            <a:picLocks noChangeAspect="1"/>
          </p:cNvPicPr>
          <p:nvPr/>
        </p:nvPicPr>
        <p:blipFill>
          <a:blip r:embed="rId3"/>
          <a:srcRect/>
          <a:stretch>
            <a:fillRect/>
          </a:stretch>
        </p:blipFill>
        <p:spPr>
          <a:xfrm>
            <a:off x="9182100" y="2527300"/>
            <a:ext cx="1600200" cy="1600200"/>
          </a:xfrm>
          <a:prstGeom prst="rect">
            <a:avLst/>
          </a:prstGeom>
          <a:noFill/>
          <a:ln w="25400" cap="flat" cmpd="sng">
            <a:noFill/>
            <a:prstDash val="solid"/>
            <a:round/>
          </a:ln>
        </p:spPr>
      </p:pic>
      <p:sp>
        <p:nvSpPr>
          <p:cNvPr id="17" name="AutoShape 17"/>
          <p:cNvSpPr/>
          <p:nvPr/>
        </p:nvSpPr>
        <p:spPr>
          <a:xfrm>
            <a:off x="-152400" y="2057400"/>
            <a:ext cx="1600200" cy="9271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ctr">
              <a:lnSpc>
                <a:spcPct val="91666"/>
              </a:lnSpc>
              <a:defRPr/>
            </a:pPr>
            <a:r>
              <a:rPr lang="en-US" sz="6400" b="1" i="0" u="none" strike="noStrike">
                <a:solidFill>
                  <a:srgbClr val="6194E6"/>
                </a:solidFill>
                <a:effectLst>
                  <a:outerShdw blurRad="38100" dist="38100" dir="2700000" algn="tl" rotWithShape="0">
                    <a:srgbClr val="000000">
                      <a:alpha val="43100"/>
                    </a:srgbClr>
                  </a:outerShdw>
                </a:effectLst>
                <a:latin typeface="Showcard Gothic"/>
                <a:ea typeface="Showcard Gothic"/>
                <a:cs typeface="Showcard Gothic"/>
                <a:sym typeface="Showcard Gothic"/>
              </a:rPr>
              <a:t>02</a:t>
            </a:r>
            <a:endParaRPr lang="en-US" sz="1100"/>
          </a:p>
        </p:txBody>
      </p:sp>
      <p:pic>
        <p:nvPicPr>
          <p:cNvPr id="18" name="Picture 18"/>
          <p:cNvPicPr>
            <a:picLocks noChangeAspect="1"/>
          </p:cNvPicPr>
          <p:nvPr/>
        </p:nvPicPr>
        <p:blipFill>
          <a:blip r:embed="rId4"/>
          <a:srcRect t="8" b="8"/>
          <a:stretch>
            <a:fillRect/>
          </a:stretch>
        </p:blipFill>
        <p:spPr>
          <a:xfrm>
            <a:off x="1333500" y="2159000"/>
            <a:ext cx="2133600" cy="2641600"/>
          </a:xfrm>
          <a:prstGeom prst="rect">
            <a:avLst/>
          </a:prstGeom>
          <a:noFill/>
          <a:ln w="25400" cap="flat" cmpd="sng">
            <a:noFill/>
            <a:prstDash val="solid"/>
            <a:round/>
          </a:ln>
        </p:spPr>
      </p:pic>
      <p:pic>
        <p:nvPicPr>
          <p:cNvPr id="22" name="Picture 21"/>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620170" y="1635125"/>
            <a:ext cx="3117820" cy="3508375"/>
          </a:xfrm>
          <a:prstGeom prst="rect">
            <a:avLst/>
          </a:prstGeom>
        </p:spPr>
      </p:pic>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8F8F8">
            <a:alpha val="100000"/>
          </a:srgbClr>
        </a:solidFill>
        <a:effectLst/>
      </p:bgPr>
    </p:bg>
    <p:spTree>
      <p:nvGrpSpPr>
        <p:cNvPr id="1" name=""/>
        <p:cNvGrpSpPr/>
        <p:nvPr/>
      </p:nvGrpSpPr>
      <p:grpSpPr>
        <a:xfrm>
          <a:off x="0" y="0"/>
          <a:ext cx="0" cy="0"/>
          <a:chOff x="0" y="0"/>
          <a:chExt cx="0" cy="0"/>
        </a:xfrm>
      </p:grpSpPr>
      <p:sp>
        <p:nvSpPr>
          <p:cNvPr id="2" name="AutoShape 2"/>
          <p:cNvSpPr/>
          <p:nvPr/>
        </p:nvSpPr>
        <p:spPr>
          <a:xfrm rot="5400000" flipV="1">
            <a:off x="7658100" y="-63500"/>
            <a:ext cx="1549400" cy="1549400"/>
          </a:xfrm>
          <a:prstGeom prst="rtTriangle">
            <a:avLst/>
          </a:prstGeom>
          <a:solidFill>
            <a:srgbClr val="092241">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rot="-8100000" flipV="1">
            <a:off x="8559800" y="901700"/>
            <a:ext cx="1155700" cy="266700"/>
          </a:xfrm>
          <a:prstGeom prst="roundRect">
            <a:avLst>
              <a:gd name="adj" fmla="val 47619"/>
            </a:avLst>
          </a:prstGeom>
          <a:solidFill>
            <a:srgbClr val="B7B7B7">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4" name="AutoShape 4"/>
          <p:cNvSpPr/>
          <p:nvPr/>
        </p:nvSpPr>
        <p:spPr>
          <a:xfrm>
            <a:off x="7772400" y="292100"/>
            <a:ext cx="1308100" cy="1308100"/>
          </a:xfrm>
          <a:prstGeom prst="ellipse">
            <a:avLst/>
          </a:prstGeom>
          <a:noFill/>
          <a:ln w="12700" cap="flat" cmpd="sng">
            <a:solidFill>
              <a:srgbClr val="F8F8F8">
                <a:alpha val="100000"/>
              </a:srgbClr>
            </a:solidFill>
            <a:prstDash val="lgDash"/>
            <a:round/>
          </a:ln>
        </p:spPr>
        <p:txBody>
          <a:bodyPr vert="horz" wrap="square" lIns="63500" tIns="63500" rIns="63500" bIns="63500" rtlCol="0" anchor="ctr"/>
          <a:lstStyle/>
          <a:p>
            <a:pPr algn="ctr">
              <a:defRPr/>
            </a:pPr>
            <a:endParaRPr/>
          </a:p>
        </p:txBody>
      </p:sp>
      <p:sp>
        <p:nvSpPr>
          <p:cNvPr id="5" name="AutoShape 5"/>
          <p:cNvSpPr/>
          <p:nvPr/>
        </p:nvSpPr>
        <p:spPr>
          <a:xfrm rot="-8100000" flipV="1">
            <a:off x="7759700" y="-368300"/>
            <a:ext cx="1104900" cy="203200"/>
          </a:xfrm>
          <a:prstGeom prst="roundRect">
            <a:avLst>
              <a:gd name="adj" fmla="val 50000"/>
            </a:avLst>
          </a:prstGeom>
          <a:solidFill>
            <a:srgbClr val="6194E6">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6" name="AutoShape 6"/>
          <p:cNvSpPr/>
          <p:nvPr/>
        </p:nvSpPr>
        <p:spPr>
          <a:xfrm rot="2700000">
            <a:off x="7594600" y="-177800"/>
            <a:ext cx="774700" cy="127000"/>
          </a:xfrm>
          <a:prstGeom prst="roundRect">
            <a:avLst>
              <a:gd name="adj" fmla="val 50000"/>
            </a:avLst>
          </a:prstGeom>
          <a:solidFill>
            <a:srgbClr val="F8F8F8">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7" name="AutoShape 7"/>
          <p:cNvSpPr/>
          <p:nvPr/>
        </p:nvSpPr>
        <p:spPr>
          <a:xfrm>
            <a:off x="723900" y="292100"/>
            <a:ext cx="7708900" cy="571500"/>
          </a:xfrm>
          <a:prstGeom prst="roundRect">
            <a:avLst>
              <a:gd name="adj" fmla="val 0"/>
            </a:avLst>
          </a:prstGeom>
          <a:noFill/>
          <a:ln w="25400" cap="flat" cmpd="sng">
            <a:noFill/>
            <a:prstDash val="solid"/>
            <a:round/>
          </a:ln>
        </p:spPr>
        <p:txBody>
          <a:bodyPr vert="horz" wrap="square" lIns="88900" tIns="88900" rIns="88900" bIns="88900" rtlCol="0" anchor="t" anchorCtr="0"/>
          <a:lstStyle/>
          <a:p>
            <a:pPr marL="0" indent="0" algn="l">
              <a:lnSpc>
                <a:spcPct val="100000"/>
              </a:lnSpc>
              <a:defRPr/>
            </a:pPr>
            <a:r>
              <a:rPr lang="en-US" sz="3200" b="0" i="0" u="none" strike="noStrike">
                <a:solidFill>
                  <a:srgbClr val="092241"/>
                </a:solidFill>
                <a:effectLst>
                  <a:outerShdw blurRad="38100" dist="38100" dir="2700000" algn="tl" rotWithShape="0">
                    <a:srgbClr val="000000">
                      <a:alpha val="43100"/>
                    </a:srgbClr>
                  </a:outerShdw>
                </a:effectLst>
                <a:latin typeface="Archivo Black"/>
                <a:ea typeface="Archivo Black"/>
                <a:cs typeface="Archivo Black"/>
                <a:sym typeface="Archivo Black"/>
              </a:rPr>
              <a:t>The Technology Matrix</a:t>
            </a:r>
            <a:endParaRPr lang="en-US" sz="1100"/>
          </a:p>
        </p:txBody>
      </p:sp>
      <p:sp>
        <p:nvSpPr>
          <p:cNvPr id="8" name="AutoShape 8"/>
          <p:cNvSpPr/>
          <p:nvPr/>
        </p:nvSpPr>
        <p:spPr>
          <a:xfrm>
            <a:off x="808301" y="2114550"/>
            <a:ext cx="3048000" cy="762000"/>
          </a:xfrm>
          <a:prstGeom prst="roundRect">
            <a:avLst>
              <a:gd name="adj" fmla="val 0"/>
            </a:avLst>
          </a:prstGeom>
          <a:noFill/>
          <a:ln w="25400" cap="flat" cmpd="sng">
            <a:noFill/>
            <a:prstDash val="solid"/>
            <a:round/>
          </a:ln>
        </p:spPr>
        <p:txBody>
          <a:bodyPr vert="horz" wrap="square" lIns="0" tIns="0" rIns="0" bIns="0" rtlCol="0" anchor="t" anchorCtr="0"/>
          <a:lstStyle/>
          <a:p>
            <a:pPr marL="0" indent="0">
              <a:lnSpc>
                <a:spcPct val="108333"/>
              </a:lnSpc>
              <a:defRPr/>
            </a:pPr>
            <a:r>
              <a:rPr lang="en-US" sz="1100" b="0" i="0" u="none" strike="noStrike" dirty="0">
                <a:solidFill>
                  <a:srgbClr val="505A69"/>
                </a:solidFill>
                <a:latin typeface="Manrope"/>
                <a:ea typeface="Manrope"/>
                <a:cs typeface="Manrope"/>
                <a:sym typeface="Manrope"/>
              </a:rPr>
              <a:t>Semantic HTML5 structures backed by Tailwind CSS utility chains to eliminate custom </a:t>
            </a:r>
            <a:r>
              <a:rPr lang="en-US" sz="1100" b="0" i="0" u="none" strike="noStrike" dirty="0" smtClean="0">
                <a:solidFill>
                  <a:srgbClr val="505A69"/>
                </a:solidFill>
                <a:latin typeface="Manrope"/>
                <a:ea typeface="Manrope"/>
                <a:cs typeface="Manrope"/>
                <a:sym typeface="Manrope"/>
              </a:rPr>
              <a:t>style sheet </a:t>
            </a:r>
            <a:r>
              <a:rPr lang="en-US" sz="1100" b="0" i="0" u="none" strike="noStrike" dirty="0">
                <a:solidFill>
                  <a:srgbClr val="505A69"/>
                </a:solidFill>
                <a:latin typeface="Manrope"/>
                <a:ea typeface="Manrope"/>
                <a:cs typeface="Manrope"/>
                <a:sym typeface="Manrope"/>
              </a:rPr>
              <a:t>bloat, creating a lightweight and responsive presentation layer.</a:t>
            </a:r>
            <a:endParaRPr lang="en-US" sz="1100" dirty="0"/>
          </a:p>
        </p:txBody>
      </p:sp>
      <p:sp>
        <p:nvSpPr>
          <p:cNvPr id="9" name="AutoShape 9"/>
          <p:cNvSpPr/>
          <p:nvPr/>
        </p:nvSpPr>
        <p:spPr>
          <a:xfrm>
            <a:off x="808301" y="3543591"/>
            <a:ext cx="3225800" cy="1016000"/>
          </a:xfrm>
          <a:prstGeom prst="roundRect">
            <a:avLst>
              <a:gd name="adj" fmla="val 0"/>
            </a:avLst>
          </a:prstGeom>
          <a:noFill/>
          <a:ln w="25400" cap="flat" cmpd="sng">
            <a:noFill/>
            <a:prstDash val="solid"/>
            <a:round/>
          </a:ln>
        </p:spPr>
        <p:txBody>
          <a:bodyPr vert="horz" wrap="square" lIns="0" tIns="0" rIns="0" bIns="0" rtlCol="0" anchor="t" anchorCtr="0"/>
          <a:lstStyle/>
          <a:p>
            <a:pPr marL="0" indent="0" algn="l">
              <a:lnSpc>
                <a:spcPct val="108333"/>
              </a:lnSpc>
              <a:defRPr/>
            </a:pPr>
            <a:r>
              <a:rPr lang="en-US" sz="1100" b="0" i="0" u="none" strike="noStrike" dirty="0">
                <a:solidFill>
                  <a:srgbClr val="505A69"/>
                </a:solidFill>
                <a:latin typeface="Manrope"/>
                <a:ea typeface="Manrope"/>
                <a:cs typeface="Manrope"/>
                <a:sym typeface="Manrope"/>
              </a:rPr>
              <a:t>Structured Python backend controllers handle incoming requests and enforce strict access authorization gates, ensuring secure and reliable traffic management between client and server components.</a:t>
            </a:r>
            <a:endParaRPr lang="en-US" sz="1100" dirty="0"/>
          </a:p>
        </p:txBody>
      </p:sp>
      <p:sp>
        <p:nvSpPr>
          <p:cNvPr id="10" name="AutoShape 10"/>
          <p:cNvSpPr/>
          <p:nvPr/>
        </p:nvSpPr>
        <p:spPr>
          <a:xfrm>
            <a:off x="4876799" y="1682894"/>
            <a:ext cx="3390900" cy="762000"/>
          </a:xfrm>
          <a:prstGeom prst="roundRect">
            <a:avLst>
              <a:gd name="adj" fmla="val 0"/>
            </a:avLst>
          </a:prstGeom>
          <a:noFill/>
          <a:ln w="25400" cap="flat" cmpd="sng">
            <a:noFill/>
            <a:prstDash val="solid"/>
            <a:round/>
          </a:ln>
        </p:spPr>
        <p:txBody>
          <a:bodyPr vert="horz" wrap="square" lIns="0" tIns="0" rIns="0" bIns="0" rtlCol="0" anchor="t" anchorCtr="0"/>
          <a:lstStyle/>
          <a:p>
            <a:pPr marL="0" indent="0" algn="l">
              <a:lnSpc>
                <a:spcPct val="108333"/>
              </a:lnSpc>
              <a:defRPr/>
            </a:pPr>
            <a:r>
              <a:rPr lang="en-US" sz="1100" b="0" i="0" u="none" strike="noStrike" dirty="0">
                <a:solidFill>
                  <a:srgbClr val="505A69"/>
                </a:solidFill>
                <a:latin typeface="Manrope"/>
                <a:ea typeface="Manrope"/>
                <a:cs typeface="Manrope"/>
                <a:sym typeface="Manrope"/>
              </a:rPr>
              <a:t>Native JavaScript/</a:t>
            </a:r>
            <a:r>
              <a:rPr lang="en-US" sz="1100" b="0" i="0" u="none" strike="noStrike" dirty="0" err="1">
                <a:solidFill>
                  <a:srgbClr val="505A69"/>
                </a:solidFill>
                <a:latin typeface="Manrope"/>
                <a:ea typeface="Manrope"/>
                <a:cs typeface="Manrope"/>
                <a:sym typeface="Manrope"/>
              </a:rPr>
              <a:t>TypeScript</a:t>
            </a:r>
            <a:r>
              <a:rPr lang="en-US" sz="1100" b="0" i="0" u="none" strike="noStrike" dirty="0">
                <a:solidFill>
                  <a:srgbClr val="505A69"/>
                </a:solidFill>
                <a:latin typeface="Manrope"/>
                <a:ea typeface="Manrope"/>
                <a:cs typeface="Manrope"/>
                <a:sym typeface="Manrope"/>
              </a:rPr>
              <a:t> modules power asynchronous interface animations and secure client-side validation loops, enabling fluid user experiences with real-time feedback.</a:t>
            </a:r>
            <a:endParaRPr lang="en-US" sz="1100" dirty="0"/>
          </a:p>
        </p:txBody>
      </p:sp>
      <p:sp>
        <p:nvSpPr>
          <p:cNvPr id="11" name="AutoShape 11"/>
          <p:cNvSpPr/>
          <p:nvPr/>
        </p:nvSpPr>
        <p:spPr>
          <a:xfrm>
            <a:off x="4914900" y="2806990"/>
            <a:ext cx="3365500" cy="952500"/>
          </a:xfrm>
          <a:prstGeom prst="roundRect">
            <a:avLst>
              <a:gd name="adj" fmla="val 0"/>
            </a:avLst>
          </a:prstGeom>
          <a:noFill/>
          <a:ln w="25400" cap="flat" cmpd="sng">
            <a:noFill/>
            <a:prstDash val="solid"/>
            <a:round/>
          </a:ln>
        </p:spPr>
        <p:txBody>
          <a:bodyPr vert="horz" wrap="square" lIns="0" tIns="0" rIns="0" bIns="0" rtlCol="0" anchor="t" anchorCtr="0"/>
          <a:lstStyle/>
          <a:p>
            <a:pPr marL="0" indent="0" algn="l">
              <a:lnSpc>
                <a:spcPct val="108333"/>
              </a:lnSpc>
              <a:defRPr/>
            </a:pPr>
            <a:r>
              <a:rPr lang="en-US" sz="1100" b="0" i="0" u="none" strike="noStrike" dirty="0">
                <a:solidFill>
                  <a:srgbClr val="505A69"/>
                </a:solidFill>
                <a:latin typeface="Manrope"/>
                <a:ea typeface="Manrope"/>
                <a:cs typeface="Manrope"/>
                <a:sym typeface="Manrope"/>
              </a:rPr>
              <a:t>Embedded SQLite architecture enforces ACID-compliant data safety protocols and rapid indexed search capabilities, providing a robust foundation for persistent information storage.</a:t>
            </a:r>
            <a:endParaRPr lang="en-US" sz="1100" dirty="0"/>
          </a:p>
        </p:txBody>
      </p:sp>
      <p:sp>
        <p:nvSpPr>
          <p:cNvPr id="12" name="AutoShape 12"/>
          <p:cNvSpPr/>
          <p:nvPr/>
        </p:nvSpPr>
        <p:spPr>
          <a:xfrm>
            <a:off x="4876800" y="4127500"/>
            <a:ext cx="3644900" cy="1016000"/>
          </a:xfrm>
          <a:prstGeom prst="roundRect">
            <a:avLst>
              <a:gd name="adj" fmla="val 0"/>
            </a:avLst>
          </a:prstGeom>
          <a:noFill/>
          <a:ln w="25400" cap="flat" cmpd="sng">
            <a:noFill/>
            <a:prstDash val="solid"/>
            <a:round/>
          </a:ln>
        </p:spPr>
        <p:txBody>
          <a:bodyPr vert="horz" wrap="square" lIns="0" tIns="0" rIns="0" bIns="0" rtlCol="0" anchor="t" anchorCtr="0"/>
          <a:lstStyle/>
          <a:p>
            <a:pPr marL="0" indent="0" algn="l">
              <a:lnSpc>
                <a:spcPct val="108333"/>
              </a:lnSpc>
              <a:defRPr/>
            </a:pPr>
            <a:r>
              <a:rPr lang="en-US" sz="1100" b="0" i="0" u="none" strike="noStrike" dirty="0">
                <a:solidFill>
                  <a:srgbClr val="505A69"/>
                </a:solidFill>
                <a:latin typeface="Manrope"/>
                <a:ea typeface="Manrope"/>
                <a:cs typeface="Manrope"/>
                <a:sym typeface="Manrope"/>
              </a:rPr>
              <a:t>The cohesive integration of frontend and backend layers creates a maintainable system that adapts to evolving user needs while upholding high standards for security and operational speed.</a:t>
            </a:r>
            <a:endParaRPr lang="en-US" sz="1100" dirty="0"/>
          </a:p>
        </p:txBody>
      </p:sp>
      <p:sp>
        <p:nvSpPr>
          <p:cNvPr id="13" name="AutoShape 13"/>
          <p:cNvSpPr/>
          <p:nvPr/>
        </p:nvSpPr>
        <p:spPr>
          <a:xfrm>
            <a:off x="1202001" y="1680663"/>
            <a:ext cx="2438400" cy="3810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00000"/>
              </a:lnSpc>
              <a:defRPr/>
            </a:pPr>
            <a:r>
              <a:rPr lang="en-US" sz="1600" b="1" i="0" u="none" strike="noStrike" dirty="0">
                <a:solidFill>
                  <a:srgbClr val="092241"/>
                </a:solidFill>
                <a:latin typeface="Archivo Narrow"/>
                <a:ea typeface="Archivo Narrow"/>
                <a:cs typeface="Archivo Narrow"/>
                <a:sym typeface="Archivo Narrow"/>
              </a:rPr>
              <a:t>Frontend Layer</a:t>
            </a:r>
            <a:endParaRPr lang="en-US" sz="1100" dirty="0"/>
          </a:p>
        </p:txBody>
      </p:sp>
      <p:sp>
        <p:nvSpPr>
          <p:cNvPr id="15" name="AutoShape 15"/>
          <p:cNvSpPr/>
          <p:nvPr/>
        </p:nvSpPr>
        <p:spPr>
          <a:xfrm>
            <a:off x="5200650" y="1253091"/>
            <a:ext cx="2794000" cy="3810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00000"/>
              </a:lnSpc>
              <a:defRPr/>
            </a:pPr>
            <a:r>
              <a:rPr lang="en-US" sz="1600" b="1" i="0" u="none" strike="noStrike" dirty="0">
                <a:solidFill>
                  <a:srgbClr val="092241"/>
                </a:solidFill>
                <a:latin typeface="Archivo Narrow"/>
                <a:ea typeface="Archivo Narrow"/>
                <a:cs typeface="Archivo Narrow"/>
                <a:sym typeface="Archivo Narrow"/>
              </a:rPr>
              <a:t>State Engine</a:t>
            </a:r>
            <a:endParaRPr lang="en-US" sz="1100" dirty="0"/>
          </a:p>
        </p:txBody>
      </p:sp>
      <p:sp>
        <p:nvSpPr>
          <p:cNvPr id="16" name="AutoShape 16"/>
          <p:cNvSpPr/>
          <p:nvPr/>
        </p:nvSpPr>
        <p:spPr>
          <a:xfrm>
            <a:off x="5232400" y="2438980"/>
            <a:ext cx="2794000" cy="3810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00000"/>
              </a:lnSpc>
              <a:defRPr/>
            </a:pPr>
            <a:r>
              <a:rPr lang="en-US" sz="1600" b="1" i="0" u="none" strike="noStrike" dirty="0">
                <a:solidFill>
                  <a:srgbClr val="092241"/>
                </a:solidFill>
                <a:latin typeface="Archivo Narrow"/>
                <a:ea typeface="Archivo Narrow"/>
                <a:cs typeface="Archivo Narrow"/>
                <a:sym typeface="Archivo Narrow"/>
              </a:rPr>
              <a:t>Storage Core</a:t>
            </a:r>
            <a:endParaRPr lang="en-US" sz="1100" dirty="0"/>
          </a:p>
        </p:txBody>
      </p:sp>
      <p:sp>
        <p:nvSpPr>
          <p:cNvPr id="17" name="AutoShape 17"/>
          <p:cNvSpPr/>
          <p:nvPr/>
        </p:nvSpPr>
        <p:spPr>
          <a:xfrm>
            <a:off x="1181100" y="3056816"/>
            <a:ext cx="2794000" cy="3810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00000"/>
              </a:lnSpc>
              <a:defRPr/>
            </a:pPr>
            <a:r>
              <a:rPr lang="en-US" sz="1600" b="1" i="0" u="none" strike="noStrike" dirty="0">
                <a:solidFill>
                  <a:srgbClr val="092241"/>
                </a:solidFill>
                <a:latin typeface="Archivo Narrow"/>
                <a:ea typeface="Archivo Narrow"/>
                <a:cs typeface="Archivo Narrow"/>
                <a:sym typeface="Archivo Narrow"/>
              </a:rPr>
              <a:t>Backend Control</a:t>
            </a:r>
            <a:endParaRPr lang="en-US" sz="1100" dirty="0"/>
          </a:p>
        </p:txBody>
      </p:sp>
      <p:sp>
        <p:nvSpPr>
          <p:cNvPr id="18" name="AutoShape 18"/>
          <p:cNvSpPr/>
          <p:nvPr/>
        </p:nvSpPr>
        <p:spPr>
          <a:xfrm>
            <a:off x="5302250" y="3695990"/>
            <a:ext cx="2794000" cy="3810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00000"/>
              </a:lnSpc>
              <a:defRPr/>
            </a:pPr>
            <a:r>
              <a:rPr lang="en-US" sz="1600" b="1" i="0" u="none" strike="noStrike" dirty="0">
                <a:solidFill>
                  <a:srgbClr val="092241"/>
                </a:solidFill>
                <a:latin typeface="Archivo Narrow"/>
                <a:ea typeface="Archivo Narrow"/>
                <a:cs typeface="Archivo Narrow"/>
                <a:sym typeface="Archivo Narrow"/>
              </a:rPr>
              <a:t>System Synergy</a:t>
            </a:r>
            <a:endParaRPr lang="en-US" sz="1100" dirty="0"/>
          </a:p>
        </p:txBody>
      </p:sp>
      <p:pic>
        <p:nvPicPr>
          <p:cNvPr id="21" name="Picture 21"/>
          <p:cNvPicPr>
            <a:picLocks noChangeAspect="1"/>
          </p:cNvPicPr>
          <p:nvPr/>
        </p:nvPicPr>
        <p:blipFill>
          <a:blip r:embed="rId3"/>
          <a:srcRect/>
          <a:stretch>
            <a:fillRect/>
          </a:stretch>
        </p:blipFill>
        <p:spPr>
          <a:xfrm>
            <a:off x="869624" y="3143540"/>
            <a:ext cx="279400" cy="279400"/>
          </a:xfrm>
          <a:prstGeom prst="rect">
            <a:avLst/>
          </a:prstGeom>
          <a:noFill/>
          <a:ln w="25400" cap="flat" cmpd="sng">
            <a:noFill/>
            <a:prstDash val="solid"/>
            <a:round/>
          </a:ln>
        </p:spPr>
      </p:pic>
      <p:pic>
        <p:nvPicPr>
          <p:cNvPr id="22" name="Picture 22"/>
          <p:cNvPicPr>
            <a:picLocks noChangeAspect="1"/>
          </p:cNvPicPr>
          <p:nvPr/>
        </p:nvPicPr>
        <p:blipFill>
          <a:blip r:embed="rId4"/>
          <a:srcRect/>
          <a:stretch>
            <a:fillRect/>
          </a:stretch>
        </p:blipFill>
        <p:spPr>
          <a:xfrm flipV="1">
            <a:off x="4889500" y="1320800"/>
            <a:ext cx="266700" cy="266700"/>
          </a:xfrm>
          <a:prstGeom prst="rect">
            <a:avLst/>
          </a:prstGeom>
          <a:noFill/>
          <a:ln w="25400" cap="flat" cmpd="sng">
            <a:noFill/>
            <a:prstDash val="solid"/>
            <a:round/>
          </a:ln>
        </p:spPr>
      </p:pic>
      <p:pic>
        <p:nvPicPr>
          <p:cNvPr id="23" name="Picture 23"/>
          <p:cNvPicPr>
            <a:picLocks noChangeAspect="1"/>
          </p:cNvPicPr>
          <p:nvPr/>
        </p:nvPicPr>
        <p:blipFill>
          <a:blip r:embed="rId5"/>
          <a:srcRect/>
          <a:stretch>
            <a:fillRect/>
          </a:stretch>
        </p:blipFill>
        <p:spPr>
          <a:xfrm>
            <a:off x="4914900" y="2514889"/>
            <a:ext cx="254000" cy="254000"/>
          </a:xfrm>
          <a:prstGeom prst="rect">
            <a:avLst/>
          </a:prstGeom>
          <a:noFill/>
          <a:ln w="25400" cap="flat" cmpd="sng">
            <a:noFill/>
            <a:prstDash val="solid"/>
            <a:round/>
          </a:ln>
        </p:spPr>
      </p:pic>
      <p:pic>
        <p:nvPicPr>
          <p:cNvPr id="24" name="Picture 24"/>
          <p:cNvPicPr>
            <a:picLocks noChangeAspect="1"/>
          </p:cNvPicPr>
          <p:nvPr/>
        </p:nvPicPr>
        <p:blipFill>
          <a:blip r:embed="rId6"/>
          <a:srcRect/>
          <a:stretch>
            <a:fillRect/>
          </a:stretch>
        </p:blipFill>
        <p:spPr>
          <a:xfrm rot="10800000" flipV="1">
            <a:off x="4876800" y="3695990"/>
            <a:ext cx="355600" cy="355600"/>
          </a:xfrm>
          <a:prstGeom prst="rect">
            <a:avLst/>
          </a:prstGeom>
          <a:noFill/>
          <a:ln w="25400" cap="flat" cmpd="sng">
            <a:noFill/>
            <a:prstDash val="solid"/>
            <a:round/>
          </a:ln>
        </p:spPr>
      </p:pic>
      <p:pic>
        <p:nvPicPr>
          <p:cNvPr id="25" name="Picture 24"/>
          <p:cNvPicPr>
            <a:picLocks noChangeAspect="1"/>
          </p:cNvPicPr>
          <p:nvPr/>
        </p:nvPicPr>
        <p:blipFill>
          <a:blip r:embed="rId7"/>
          <a:stretch>
            <a:fillRect/>
          </a:stretch>
        </p:blipFill>
        <p:spPr>
          <a:xfrm>
            <a:off x="865487" y="1720758"/>
            <a:ext cx="300809" cy="300809"/>
          </a:xfrm>
          <a:prstGeom prst="rect">
            <a:avLst/>
          </a:prstGeom>
        </p:spPr>
      </p:pic>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8F8F8">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533400" y="577850"/>
            <a:ext cx="8255000" cy="7493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91666"/>
              </a:lnSpc>
              <a:defRPr/>
            </a:pPr>
            <a:r>
              <a:rPr lang="en-US" sz="4400" b="1" i="0" u="none" strike="noStrike" dirty="0">
                <a:solidFill>
                  <a:srgbClr val="092241"/>
                </a:solidFill>
                <a:effectLst>
                  <a:outerShdw blurRad="38100" dist="38100" dir="2700000" algn="tl" rotWithShape="0">
                    <a:srgbClr val="000000">
                      <a:alpha val="43100"/>
                    </a:srgbClr>
                  </a:outerShdw>
                </a:effectLst>
                <a:latin typeface="Archivo Black"/>
                <a:ea typeface="Archivo Black"/>
                <a:cs typeface="Archivo Black"/>
                <a:sym typeface="Archivo Black"/>
              </a:rPr>
              <a:t>Chronological Engineering Lifecycle</a:t>
            </a:r>
            <a:endParaRPr lang="en-US" sz="1100" dirty="0"/>
          </a:p>
        </p:txBody>
      </p:sp>
      <p:sp>
        <p:nvSpPr>
          <p:cNvPr id="3" name="AutoShape 3"/>
          <p:cNvSpPr/>
          <p:nvPr/>
        </p:nvSpPr>
        <p:spPr>
          <a:xfrm>
            <a:off x="3637136" y="1115659"/>
            <a:ext cx="8255000" cy="4191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08333"/>
              </a:lnSpc>
              <a:defRPr/>
            </a:pPr>
            <a:r>
              <a:rPr lang="en-US" sz="1800" b="0" i="0" u="none" strike="noStrike" dirty="0">
                <a:solidFill>
                  <a:srgbClr val="595959"/>
                </a:solidFill>
                <a:latin typeface="Manrope"/>
                <a:ea typeface="Manrope"/>
                <a:cs typeface="Manrope"/>
                <a:sym typeface="Manrope"/>
              </a:rPr>
              <a:t>The </a:t>
            </a:r>
            <a:r>
              <a:rPr lang="en-US" sz="1800" b="0" i="0" u="none" strike="noStrike" dirty="0" smtClean="0">
                <a:solidFill>
                  <a:srgbClr val="595959"/>
                </a:solidFill>
                <a:latin typeface="Manrope"/>
                <a:ea typeface="Manrope"/>
                <a:cs typeface="Manrope"/>
                <a:sym typeface="Manrope"/>
              </a:rPr>
              <a:t>10-Week </a:t>
            </a:r>
            <a:r>
              <a:rPr lang="en-US" sz="1800" b="0" i="0" u="none" strike="noStrike" dirty="0">
                <a:solidFill>
                  <a:srgbClr val="595959"/>
                </a:solidFill>
                <a:latin typeface="Manrope"/>
                <a:ea typeface="Manrope"/>
                <a:cs typeface="Manrope"/>
                <a:sym typeface="Manrope"/>
              </a:rPr>
              <a:t>Development Sprint</a:t>
            </a:r>
            <a:endParaRPr lang="en-US" sz="1100" dirty="0"/>
          </a:p>
        </p:txBody>
      </p:sp>
      <p:sp>
        <p:nvSpPr>
          <p:cNvPr id="4" name="AutoShape 4"/>
          <p:cNvSpPr/>
          <p:nvPr/>
        </p:nvSpPr>
        <p:spPr>
          <a:xfrm>
            <a:off x="460248" y="1857375"/>
            <a:ext cx="2476500" cy="1841500"/>
          </a:xfrm>
          <a:prstGeom prst="roundRect">
            <a:avLst>
              <a:gd name="adj" fmla="val 0"/>
            </a:avLst>
          </a:prstGeom>
          <a:solidFill>
            <a:srgbClr val="4472C4">
              <a:alpha val="9000"/>
            </a:srgbClr>
          </a:solidFill>
          <a:ln w="25400" cap="flat" cmpd="sng">
            <a:noFill/>
            <a:prstDash val="solid"/>
            <a:round/>
          </a:ln>
        </p:spPr>
        <p:txBody>
          <a:bodyPr vert="horz" wrap="square" lIns="63500" tIns="63500" rIns="63500" bIns="63500" rtlCol="0" anchor="ctr"/>
          <a:lstStyle/>
          <a:p>
            <a:pPr algn="ctr">
              <a:defRPr/>
            </a:pPr>
            <a:endParaRPr/>
          </a:p>
        </p:txBody>
      </p:sp>
      <p:sp>
        <p:nvSpPr>
          <p:cNvPr id="5" name="AutoShape 5"/>
          <p:cNvSpPr/>
          <p:nvPr/>
        </p:nvSpPr>
        <p:spPr>
          <a:xfrm>
            <a:off x="523748" y="1958975"/>
            <a:ext cx="2349500" cy="3302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ctr">
              <a:lnSpc>
                <a:spcPct val="125000"/>
              </a:lnSpc>
              <a:defRPr/>
            </a:pPr>
            <a:r>
              <a:rPr lang="en-US" sz="1400" b="1" i="0" u="none" strike="noStrike" dirty="0">
                <a:solidFill>
                  <a:srgbClr val="4472C4"/>
                </a:solidFill>
                <a:latin typeface="Archivo Black"/>
                <a:ea typeface="Archivo Black"/>
                <a:cs typeface="Archivo Black"/>
                <a:sym typeface="Archivo Black"/>
              </a:rPr>
              <a:t>WEEKS 1-3 | FOUNDATION</a:t>
            </a:r>
            <a:endParaRPr lang="en-US" sz="1100" dirty="0"/>
          </a:p>
        </p:txBody>
      </p:sp>
      <p:sp>
        <p:nvSpPr>
          <p:cNvPr id="6" name="AutoShape 6"/>
          <p:cNvSpPr/>
          <p:nvPr/>
        </p:nvSpPr>
        <p:spPr>
          <a:xfrm>
            <a:off x="523748" y="2365375"/>
            <a:ext cx="2349500" cy="11430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ctr">
              <a:lnSpc>
                <a:spcPct val="108333"/>
              </a:lnSpc>
              <a:defRPr/>
            </a:pPr>
            <a:r>
              <a:rPr lang="en-US" sz="1200" b="0" i="0" u="none" strike="noStrike" dirty="0">
                <a:solidFill>
                  <a:srgbClr val="374151"/>
                </a:solidFill>
                <a:latin typeface="Noto Sans SC"/>
                <a:ea typeface="Noto Sans SC"/>
                <a:cs typeface="Noto Sans SC"/>
                <a:sym typeface="Noto Sans SC"/>
              </a:rPr>
              <a:t>Completed database schema architecture and core environment setup. Finalized technical blueprints and aligned cross-functional teams on sprint milestones.</a:t>
            </a:r>
            <a:endParaRPr lang="en-US" sz="1100" dirty="0"/>
          </a:p>
        </p:txBody>
      </p:sp>
      <p:sp>
        <p:nvSpPr>
          <p:cNvPr id="7" name="AutoShape 7"/>
          <p:cNvSpPr/>
          <p:nvPr/>
        </p:nvSpPr>
        <p:spPr>
          <a:xfrm>
            <a:off x="3336798" y="1869767"/>
            <a:ext cx="2476500" cy="1841500"/>
          </a:xfrm>
          <a:prstGeom prst="roundRect">
            <a:avLst>
              <a:gd name="adj" fmla="val 0"/>
            </a:avLst>
          </a:prstGeom>
          <a:solidFill>
            <a:srgbClr val="092241">
              <a:alpha val="8000"/>
            </a:srgbClr>
          </a:solidFill>
          <a:ln w="25400" cap="flat" cmpd="sng">
            <a:noFill/>
            <a:prstDash val="solid"/>
            <a:round/>
          </a:ln>
        </p:spPr>
        <p:txBody>
          <a:bodyPr vert="horz" wrap="square" lIns="63500" tIns="63500" rIns="63500" bIns="63500" rtlCol="0" anchor="ctr"/>
          <a:lstStyle/>
          <a:p>
            <a:pPr algn="ctr">
              <a:defRPr/>
            </a:pPr>
            <a:endParaRPr/>
          </a:p>
        </p:txBody>
      </p:sp>
      <p:sp>
        <p:nvSpPr>
          <p:cNvPr id="8" name="AutoShape 8"/>
          <p:cNvSpPr/>
          <p:nvPr/>
        </p:nvSpPr>
        <p:spPr>
          <a:xfrm>
            <a:off x="3400298" y="1971367"/>
            <a:ext cx="2349500" cy="3302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ctr">
              <a:lnSpc>
                <a:spcPct val="125000"/>
              </a:lnSpc>
              <a:defRPr/>
            </a:pPr>
            <a:r>
              <a:rPr lang="en-US" sz="1400" b="1" i="0" u="none" strike="noStrike" dirty="0">
                <a:solidFill>
                  <a:srgbClr val="092241"/>
                </a:solidFill>
                <a:latin typeface="Archivo Black"/>
                <a:ea typeface="Archivo Black"/>
                <a:cs typeface="Archivo Black"/>
                <a:sym typeface="Archivo Black"/>
              </a:rPr>
              <a:t>WEEKS 4-8 | EXECUTION</a:t>
            </a:r>
            <a:endParaRPr lang="en-US" sz="1100" dirty="0"/>
          </a:p>
        </p:txBody>
      </p:sp>
      <p:sp>
        <p:nvSpPr>
          <p:cNvPr id="9" name="AutoShape 9"/>
          <p:cNvSpPr/>
          <p:nvPr/>
        </p:nvSpPr>
        <p:spPr>
          <a:xfrm>
            <a:off x="3400298" y="2377767"/>
            <a:ext cx="2349500" cy="11430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ctr">
              <a:lnSpc>
                <a:spcPct val="108333"/>
              </a:lnSpc>
              <a:defRPr/>
            </a:pPr>
            <a:r>
              <a:rPr lang="en-US" sz="1200" b="0" i="0" u="none" strike="noStrike" dirty="0">
                <a:solidFill>
                  <a:srgbClr val="374151"/>
                </a:solidFill>
                <a:latin typeface="Noto Sans SC"/>
                <a:ea typeface="Noto Sans SC"/>
                <a:cs typeface="Noto Sans SC"/>
                <a:sym typeface="Noto Sans SC"/>
              </a:rPr>
              <a:t>Rapid agile development of core LMS modules. Integrated frontend workflows with backend logic, conducting iterative unit testing to mitigate technical debt.</a:t>
            </a:r>
            <a:endParaRPr lang="en-US" sz="1100" dirty="0"/>
          </a:p>
        </p:txBody>
      </p:sp>
      <p:sp>
        <p:nvSpPr>
          <p:cNvPr id="10" name="AutoShape 10"/>
          <p:cNvSpPr/>
          <p:nvPr/>
        </p:nvSpPr>
        <p:spPr>
          <a:xfrm>
            <a:off x="6213348" y="1869767"/>
            <a:ext cx="2476500" cy="1841500"/>
          </a:xfrm>
          <a:prstGeom prst="roundRect">
            <a:avLst>
              <a:gd name="adj" fmla="val 0"/>
            </a:avLst>
          </a:prstGeom>
          <a:solidFill>
            <a:srgbClr val="10B981">
              <a:alpha val="9000"/>
            </a:srgbClr>
          </a:solidFill>
          <a:ln w="25400" cap="flat" cmpd="sng">
            <a:noFill/>
            <a:prstDash val="solid"/>
            <a:round/>
          </a:ln>
        </p:spPr>
        <p:txBody>
          <a:bodyPr vert="horz" wrap="square" lIns="63500" tIns="63500" rIns="63500" bIns="63500" rtlCol="0" anchor="ctr"/>
          <a:lstStyle/>
          <a:p>
            <a:pPr algn="ctr">
              <a:defRPr/>
            </a:pPr>
            <a:endParaRPr/>
          </a:p>
        </p:txBody>
      </p:sp>
      <p:sp>
        <p:nvSpPr>
          <p:cNvPr id="11" name="AutoShape 11"/>
          <p:cNvSpPr/>
          <p:nvPr/>
        </p:nvSpPr>
        <p:spPr>
          <a:xfrm>
            <a:off x="6276848" y="1971367"/>
            <a:ext cx="2349500" cy="3302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ctr">
              <a:lnSpc>
                <a:spcPct val="125000"/>
              </a:lnSpc>
              <a:defRPr/>
            </a:pPr>
            <a:r>
              <a:rPr lang="en-US" sz="1400" b="1" i="0" u="none" strike="noStrike" dirty="0">
                <a:solidFill>
                  <a:srgbClr val="10B981"/>
                </a:solidFill>
                <a:latin typeface="Archivo Black"/>
                <a:ea typeface="Archivo Black"/>
                <a:cs typeface="Archivo Black"/>
                <a:sym typeface="Archivo Black"/>
              </a:rPr>
              <a:t>WEEKS </a:t>
            </a:r>
            <a:r>
              <a:rPr lang="en-US" sz="1400" b="1" i="0" u="none" strike="noStrike" dirty="0" smtClean="0">
                <a:solidFill>
                  <a:srgbClr val="10B981"/>
                </a:solidFill>
                <a:latin typeface="Archivo Black"/>
                <a:ea typeface="Archivo Black"/>
                <a:cs typeface="Archivo Black"/>
                <a:sym typeface="Archivo Black"/>
              </a:rPr>
              <a:t>9-10 </a:t>
            </a:r>
            <a:r>
              <a:rPr lang="en-US" sz="1400" b="1" i="0" u="none" strike="noStrike" dirty="0">
                <a:solidFill>
                  <a:srgbClr val="10B981"/>
                </a:solidFill>
                <a:latin typeface="Archivo Black"/>
                <a:ea typeface="Archivo Black"/>
                <a:cs typeface="Archivo Black"/>
                <a:sym typeface="Archivo Black"/>
              </a:rPr>
              <a:t>| LAUNCH</a:t>
            </a:r>
            <a:endParaRPr lang="en-US" sz="1100" dirty="0"/>
          </a:p>
        </p:txBody>
      </p:sp>
      <p:sp>
        <p:nvSpPr>
          <p:cNvPr id="12" name="AutoShape 12"/>
          <p:cNvSpPr/>
          <p:nvPr/>
        </p:nvSpPr>
        <p:spPr>
          <a:xfrm>
            <a:off x="6276848" y="2377767"/>
            <a:ext cx="2349500" cy="11430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ctr">
              <a:lnSpc>
                <a:spcPct val="108333"/>
              </a:lnSpc>
              <a:defRPr/>
            </a:pPr>
            <a:r>
              <a:rPr lang="en-US" sz="1200" b="0" i="0" u="none" strike="noStrike" dirty="0">
                <a:solidFill>
                  <a:srgbClr val="374151"/>
                </a:solidFill>
                <a:latin typeface="Noto Sans SC"/>
                <a:ea typeface="Noto Sans SC"/>
                <a:cs typeface="Noto Sans SC"/>
                <a:sym typeface="Noto Sans SC"/>
              </a:rPr>
              <a:t>End-to-end regression testing and critical bug resolution. Finalized the production-ready codebase handover with comprehensive documentation for maintenance.</a:t>
            </a:r>
            <a:endParaRPr lang="en-US" sz="1100" dirty="0"/>
          </a:p>
        </p:txBody>
      </p:sp>
      <p:sp>
        <p:nvSpPr>
          <p:cNvPr id="13" name="AutoShape 13"/>
          <p:cNvSpPr/>
          <p:nvPr/>
        </p:nvSpPr>
        <p:spPr>
          <a:xfrm>
            <a:off x="434848" y="3873246"/>
            <a:ext cx="8255000" cy="1079500"/>
          </a:xfrm>
          <a:prstGeom prst="roundRect">
            <a:avLst>
              <a:gd name="adj" fmla="val 0"/>
            </a:avLst>
          </a:prstGeom>
          <a:solidFill>
            <a:srgbClr val="4472C4">
              <a:alpha val="14000"/>
            </a:srgbClr>
          </a:solidFill>
          <a:ln w="25400" cap="flat" cmpd="sng">
            <a:noFill/>
            <a:prstDash val="solid"/>
            <a:round/>
          </a:ln>
        </p:spPr>
        <p:txBody>
          <a:bodyPr vert="horz" wrap="square" lIns="63500" tIns="63500" rIns="63500" bIns="63500" rtlCol="0" anchor="ctr"/>
          <a:lstStyle/>
          <a:p>
            <a:pPr algn="ctr">
              <a:defRPr/>
            </a:pPr>
            <a:endParaRPr/>
          </a:p>
        </p:txBody>
      </p:sp>
      <p:sp>
        <p:nvSpPr>
          <p:cNvPr id="14" name="AutoShape 14"/>
          <p:cNvSpPr/>
          <p:nvPr/>
        </p:nvSpPr>
        <p:spPr>
          <a:xfrm>
            <a:off x="599948" y="3936746"/>
            <a:ext cx="6350000" cy="9525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ctr">
              <a:lnSpc>
                <a:spcPct val="116666"/>
              </a:lnSpc>
              <a:defRPr/>
            </a:pPr>
            <a:r>
              <a:rPr lang="en-US" sz="1300" b="0" i="0" u="none" strike="noStrike" dirty="0">
                <a:solidFill>
                  <a:srgbClr val="1F2329"/>
                </a:solidFill>
                <a:latin typeface="Noto Sans SC"/>
                <a:ea typeface="Noto Sans SC"/>
                <a:cs typeface="Noto Sans SC"/>
                <a:sym typeface="Noto Sans SC"/>
              </a:rPr>
              <a:t>The 11-week sprint enforced a disciplined approach to resource allocation and daily progress tracking. This accelerated timeline ensured the LMS Pro platform met all functional requirements and was ready for seamless deployment.</a:t>
            </a:r>
            <a:endParaRPr lang="en-US" sz="1100" dirty="0"/>
          </a:p>
        </p:txBody>
      </p:sp>
      <p:sp>
        <p:nvSpPr>
          <p:cNvPr id="15" name="AutoShape 15"/>
          <p:cNvSpPr/>
          <p:nvPr/>
        </p:nvSpPr>
        <p:spPr>
          <a:xfrm>
            <a:off x="7140448" y="3898646"/>
            <a:ext cx="1524000" cy="9525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ctr">
              <a:lnSpc>
                <a:spcPct val="125000"/>
              </a:lnSpc>
              <a:defRPr/>
            </a:pPr>
            <a:r>
              <a:rPr lang="en-US" sz="3600" b="1" i="0" u="none" strike="noStrike">
                <a:solidFill>
                  <a:srgbClr val="4472C4"/>
                </a:solidFill>
                <a:latin typeface="Archivo Black"/>
                <a:ea typeface="Archivo Black"/>
                <a:cs typeface="Archivo Black"/>
                <a:sym typeface="Archivo Black"/>
              </a:rPr>
              <a:t>11</a:t>
            </a:r>
            <a:endParaRPr lang="en-US" sz="1100"/>
          </a:p>
          <a:p>
            <a:pPr marL="0" indent="0" algn="ctr">
              <a:lnSpc>
                <a:spcPct val="125000"/>
              </a:lnSpc>
            </a:pPr>
            <a:r>
              <a:rPr lang="en-US" sz="1200" b="0" i="0" u="none" strike="noStrike">
                <a:solidFill>
                  <a:srgbClr val="595959"/>
                </a:solidFill>
                <a:latin typeface="Manrope"/>
                <a:ea typeface="Manrope"/>
                <a:cs typeface="Manrope"/>
                <a:sym typeface="Manrope"/>
              </a:rPr>
              <a:t>WEEKS</a:t>
            </a:r>
          </a:p>
        </p:txBody>
      </p:sp>
      <p:pic>
        <p:nvPicPr>
          <p:cNvPr id="16" name="Picture 15"/>
          <p:cNvPicPr>
            <a:picLocks noChangeAspect="1"/>
          </p:cNvPicPr>
          <p:nvPr/>
        </p:nvPicPr>
        <p:blipFill>
          <a:blip r:embed="rId3"/>
          <a:stretch>
            <a:fillRect/>
          </a:stretch>
        </p:blipFill>
        <p:spPr>
          <a:xfrm>
            <a:off x="7902448" y="577850"/>
            <a:ext cx="1041000" cy="1041000"/>
          </a:xfrm>
          <a:prstGeom prst="rect">
            <a:avLst/>
          </a:prstGeom>
        </p:spPr>
      </p:pic>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8F8F8">
            <a:alpha val="100000"/>
          </a:srgbClr>
        </a:solidFill>
        <a:effectLst/>
      </p:bgPr>
    </p:bg>
    <p:spTree>
      <p:nvGrpSpPr>
        <p:cNvPr id="1" name=""/>
        <p:cNvGrpSpPr/>
        <p:nvPr/>
      </p:nvGrpSpPr>
      <p:grpSpPr>
        <a:xfrm>
          <a:off x="0" y="0"/>
          <a:ext cx="0" cy="0"/>
          <a:chOff x="0" y="0"/>
          <a:chExt cx="0" cy="0"/>
        </a:xfrm>
      </p:grpSpPr>
      <p:pic>
        <p:nvPicPr>
          <p:cNvPr id="5" name="Picture 5"/>
          <p:cNvPicPr>
            <a:picLocks noChangeAspect="1"/>
          </p:cNvPicPr>
          <p:nvPr/>
        </p:nvPicPr>
        <p:blipFill>
          <a:blip r:embed="rId3"/>
          <a:srcRect t="3740" b="3740"/>
          <a:stretch>
            <a:fillRect/>
          </a:stretch>
        </p:blipFill>
        <p:spPr>
          <a:xfrm>
            <a:off x="1008451" y="1892300"/>
            <a:ext cx="4775490" cy="2743200"/>
          </a:xfrm>
          <a:prstGeom prst="rect">
            <a:avLst/>
          </a:prstGeom>
          <a:noFill/>
          <a:ln w="25400" cap="flat" cmpd="sng">
            <a:noFill/>
            <a:prstDash val="solid"/>
            <a:round/>
          </a:ln>
        </p:spPr>
      </p:pic>
      <p:sp>
        <p:nvSpPr>
          <p:cNvPr id="2" name="AutoShape 2"/>
          <p:cNvSpPr/>
          <p:nvPr/>
        </p:nvSpPr>
        <p:spPr>
          <a:xfrm>
            <a:off x="3463771" y="121966"/>
            <a:ext cx="4429742" cy="12700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ctr">
              <a:lnSpc>
                <a:spcPct val="91666"/>
              </a:lnSpc>
              <a:defRPr/>
            </a:pPr>
            <a:r>
              <a:rPr lang="en-US" sz="3600" b="1" i="0" u="none" strike="noStrike" dirty="0" smtClean="0">
                <a:solidFill>
                  <a:srgbClr val="092241"/>
                </a:solidFill>
                <a:latin typeface="Archivo Black"/>
                <a:ea typeface="Archivo Black"/>
                <a:cs typeface="Archivo Black"/>
                <a:sym typeface="Archivo Black"/>
              </a:rPr>
              <a:t>Access Verification</a:t>
            </a:r>
            <a:r>
              <a:rPr lang="en-US" sz="3600" b="1" i="0" u="none" strike="noStrike" dirty="0">
                <a:solidFill>
                  <a:srgbClr val="092241"/>
                </a:solidFill>
                <a:latin typeface="Archivo Black"/>
                <a:ea typeface="Archivo Black"/>
                <a:cs typeface="Archivo Black"/>
                <a:sym typeface="Archivo Black"/>
              </a:rPr>
              <a:t/>
            </a:r>
            <a:br>
              <a:rPr lang="en-US" sz="3600" b="1" i="0" u="none" strike="noStrike" dirty="0">
                <a:solidFill>
                  <a:srgbClr val="092241"/>
                </a:solidFill>
                <a:latin typeface="Archivo Black"/>
                <a:ea typeface="Archivo Black"/>
                <a:cs typeface="Archivo Black"/>
                <a:sym typeface="Archivo Black"/>
              </a:rPr>
            </a:br>
            <a:r>
              <a:rPr lang="en-US" sz="3600" b="1" i="0" u="none" strike="noStrike" dirty="0">
                <a:solidFill>
                  <a:srgbClr val="092241"/>
                </a:solidFill>
                <a:latin typeface="Archivo Black"/>
                <a:ea typeface="Archivo Black"/>
                <a:cs typeface="Archivo Black"/>
                <a:sym typeface="Archivo Black"/>
              </a:rPr>
              <a:t>Architecture</a:t>
            </a:r>
            <a:endParaRPr lang="en-US" sz="1100" dirty="0"/>
          </a:p>
        </p:txBody>
      </p:sp>
      <p:sp>
        <p:nvSpPr>
          <p:cNvPr id="3" name="AutoShape 3"/>
          <p:cNvSpPr/>
          <p:nvPr/>
        </p:nvSpPr>
        <p:spPr>
          <a:xfrm>
            <a:off x="3021691" y="1428024"/>
            <a:ext cx="5524500" cy="381000"/>
          </a:xfrm>
          <a:prstGeom prst="roundRect">
            <a:avLst>
              <a:gd name="adj" fmla="val 0"/>
            </a:avLst>
          </a:prstGeom>
          <a:noFill/>
          <a:ln w="25400" cap="flat" cmpd="sng">
            <a:noFill/>
            <a:prstDash val="solid"/>
            <a:round/>
          </a:ln>
        </p:spPr>
        <p:txBody>
          <a:bodyPr vert="horz" wrap="square" lIns="0" tIns="0" rIns="0" bIns="0" rtlCol="0" anchor="t" anchorCtr="0"/>
          <a:lstStyle/>
          <a:p>
            <a:pPr marL="0" indent="0" algn="ctr">
              <a:lnSpc>
                <a:spcPct val="108333"/>
              </a:lnSpc>
              <a:defRPr/>
            </a:pPr>
            <a:r>
              <a:rPr lang="en-US" sz="1800" b="1" i="0" u="none" strike="noStrike" dirty="0">
                <a:solidFill>
                  <a:srgbClr val="6194E6"/>
                </a:solidFill>
                <a:latin typeface="Manrope"/>
                <a:ea typeface="Manrope"/>
                <a:cs typeface="Manrope"/>
                <a:sym typeface="Manrope"/>
              </a:rPr>
              <a:t>Gatekeeping &amp; Secure Authentication</a:t>
            </a:r>
            <a:endParaRPr lang="en-US" sz="1100" dirty="0"/>
          </a:p>
        </p:txBody>
      </p:sp>
      <p:sp>
        <p:nvSpPr>
          <p:cNvPr id="4" name="AutoShape 4"/>
          <p:cNvSpPr/>
          <p:nvPr/>
        </p:nvSpPr>
        <p:spPr>
          <a:xfrm>
            <a:off x="4693485" y="2031274"/>
            <a:ext cx="4016828" cy="2641600"/>
          </a:xfrm>
          <a:prstGeom prst="roundRect">
            <a:avLst>
              <a:gd name="adj" fmla="val 0"/>
            </a:avLst>
          </a:prstGeom>
          <a:noFill/>
          <a:ln w="25400" cap="flat" cmpd="sng">
            <a:noFill/>
            <a:prstDash val="solid"/>
            <a:round/>
          </a:ln>
        </p:spPr>
        <p:txBody>
          <a:bodyPr vert="horz" wrap="square" lIns="0" tIns="0" rIns="0" bIns="0" rtlCol="0" anchor="t" anchorCtr="0"/>
          <a:lstStyle/>
          <a:p>
            <a:pPr marL="0" indent="0" algn="just">
              <a:lnSpc>
                <a:spcPct val="150000"/>
              </a:lnSpc>
              <a:defRPr/>
            </a:pPr>
            <a:r>
              <a:rPr lang="en-US" sz="1200" b="0" i="0" u="none" strike="noStrike" dirty="0">
                <a:solidFill>
                  <a:srgbClr val="3C3C3C"/>
                </a:solidFill>
                <a:latin typeface="Manrope"/>
                <a:ea typeface="Manrope"/>
                <a:cs typeface="Manrope"/>
                <a:sym typeface="Manrope"/>
              </a:rPr>
              <a:t>The architecture implements a fortified Gateway with a centered Flexbox login card, featuring live validation loops and dynamic focus indicators for real-time user feedback. At the core, an adaptive RBAC Hook processes account creation by writing specific role flags directly into the backend SQLite table upon submission. This dual-layer system ensures secure authentication flows while enforcing strict role-based access control from the initial user onboarding stage.</a:t>
            </a:r>
            <a:endParaRPr lang="en-US" sz="1050" dirty="0"/>
          </a:p>
        </p:txBody>
      </p:sp>
      <p:pic>
        <p:nvPicPr>
          <p:cNvPr id="6" name="Picture 6"/>
          <p:cNvPicPr>
            <a:picLocks noChangeAspect="1"/>
          </p:cNvPicPr>
          <p:nvPr/>
        </p:nvPicPr>
        <p:blipFill>
          <a:blip r:embed="rId4"/>
          <a:srcRect l="21106" r="21106"/>
          <a:stretch>
            <a:fillRect/>
          </a:stretch>
        </p:blipFill>
        <p:spPr>
          <a:xfrm>
            <a:off x="1" y="1828800"/>
            <a:ext cx="2628246" cy="2685723"/>
          </a:xfrm>
          <a:prstGeom prst="rect">
            <a:avLst/>
          </a:prstGeom>
          <a:noFill/>
          <a:ln w="25400" cap="flat" cmpd="sng">
            <a:noFill/>
            <a:prstDash val="solid"/>
            <a:round/>
          </a:ln>
        </p:spPr>
      </p:pic>
      <p:pic>
        <p:nvPicPr>
          <p:cNvPr id="7" name="Picture 6"/>
          <p:cNvPicPr>
            <a:picLocks noChangeAspect="1"/>
          </p:cNvPicPr>
          <p:nvPr/>
        </p:nvPicPr>
        <p:blipFill>
          <a:blip r:embed="rId5"/>
          <a:stretch>
            <a:fillRect/>
          </a:stretch>
        </p:blipFill>
        <p:spPr>
          <a:xfrm>
            <a:off x="5987443" y="4259516"/>
            <a:ext cx="325838" cy="325838"/>
          </a:xfrm>
          <a:prstGeom prst="rect">
            <a:avLst/>
          </a:prstGeom>
        </p:spPr>
      </p:pic>
      <p:pic>
        <p:nvPicPr>
          <p:cNvPr id="8" name="Picture 7"/>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452590" y="121966"/>
            <a:ext cx="2847701" cy="1745222"/>
          </a:xfrm>
          <a:prstGeom prst="rect">
            <a:avLst/>
          </a:prstGeom>
        </p:spPr>
      </p:pic>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8F8F8">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2667000" y="229507"/>
            <a:ext cx="7117878" cy="1206355"/>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ctr">
              <a:lnSpc>
                <a:spcPct val="100000"/>
              </a:lnSpc>
              <a:defRPr/>
            </a:pPr>
            <a:r>
              <a:rPr lang="en-US" sz="4000" b="1" i="0" u="none" strike="noStrike" dirty="0">
                <a:solidFill>
                  <a:srgbClr val="092241"/>
                </a:solidFill>
                <a:latin typeface="Noto Sans SC"/>
                <a:ea typeface="Noto Sans SC"/>
                <a:cs typeface="Noto Sans SC"/>
                <a:sym typeface="Noto Sans SC"/>
              </a:rPr>
              <a:t>Dynamic Discovery</a:t>
            </a:r>
            <a:br>
              <a:rPr lang="en-US" sz="4000" b="1" i="0" u="none" strike="noStrike" dirty="0">
                <a:solidFill>
                  <a:srgbClr val="092241"/>
                </a:solidFill>
                <a:latin typeface="Noto Sans SC"/>
                <a:ea typeface="Noto Sans SC"/>
                <a:cs typeface="Noto Sans SC"/>
                <a:sym typeface="Noto Sans SC"/>
              </a:rPr>
            </a:br>
            <a:r>
              <a:rPr lang="en-US" sz="4000" b="1" i="0" u="none" strike="noStrike" dirty="0">
                <a:solidFill>
                  <a:srgbClr val="092241"/>
                </a:solidFill>
                <a:latin typeface="Noto Sans SC"/>
                <a:ea typeface="Noto Sans SC"/>
                <a:cs typeface="Noto Sans SC"/>
                <a:sym typeface="Noto Sans SC"/>
              </a:rPr>
              <a:t>Interface</a:t>
            </a:r>
            <a:endParaRPr lang="en-US" sz="1100" dirty="0"/>
          </a:p>
        </p:txBody>
      </p:sp>
      <p:sp>
        <p:nvSpPr>
          <p:cNvPr id="3" name="AutoShape 3"/>
          <p:cNvSpPr/>
          <p:nvPr/>
        </p:nvSpPr>
        <p:spPr>
          <a:xfrm>
            <a:off x="0" y="855872"/>
            <a:ext cx="5003800" cy="1143000"/>
          </a:xfrm>
          <a:prstGeom prst="roundRect">
            <a:avLst>
              <a:gd name="adj" fmla="val 0"/>
            </a:avLst>
          </a:prstGeom>
          <a:solidFill>
            <a:srgbClr val="6194E6">
              <a:alpha val="10000"/>
            </a:srgbClr>
          </a:solidFill>
          <a:ln w="25400" cap="flat" cmpd="sng">
            <a:noFill/>
            <a:prstDash val="solid"/>
            <a:round/>
          </a:ln>
        </p:spPr>
        <p:txBody>
          <a:bodyPr vert="horz" wrap="square" lIns="63500" tIns="63500" rIns="63500" bIns="63500" rtlCol="0" anchor="ctr"/>
          <a:lstStyle/>
          <a:p>
            <a:pPr algn="ctr">
              <a:defRPr/>
            </a:pPr>
            <a:endParaRPr/>
          </a:p>
        </p:txBody>
      </p:sp>
      <p:sp>
        <p:nvSpPr>
          <p:cNvPr id="4" name="AutoShape 4"/>
          <p:cNvSpPr/>
          <p:nvPr/>
        </p:nvSpPr>
        <p:spPr>
          <a:xfrm>
            <a:off x="215900" y="855872"/>
            <a:ext cx="4787900" cy="11430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08333"/>
              </a:lnSpc>
              <a:defRPr/>
            </a:pPr>
            <a:r>
              <a:rPr lang="en-US" sz="1400" b="1" i="0" u="none" strike="noStrike" dirty="0">
                <a:solidFill>
                  <a:srgbClr val="092241">
                    <a:alpha val="90196"/>
                  </a:srgbClr>
                </a:solidFill>
                <a:latin typeface="Noto Sans SC"/>
                <a:ea typeface="Noto Sans SC"/>
                <a:cs typeface="Noto Sans SC"/>
                <a:sym typeface="Noto Sans SC"/>
              </a:rPr>
              <a:t>Course Marketplace &amp; Frontend UX</a:t>
            </a:r>
            <a:r>
              <a:rPr lang="en-US" sz="1600" b="0" i="0" u="none" strike="noStrike" dirty="0">
                <a:solidFill>
                  <a:srgbClr val="1F2329"/>
                </a:solidFill>
                <a:latin typeface="Noto Sans SC"/>
                <a:ea typeface="Noto Sans SC"/>
                <a:cs typeface="Noto Sans SC"/>
                <a:sym typeface="Noto Sans SC"/>
              </a:rPr>
              <a:t/>
            </a:r>
            <a:br>
              <a:rPr lang="en-US" sz="1600" b="0" i="0" u="none" strike="noStrike" dirty="0">
                <a:solidFill>
                  <a:srgbClr val="1F2329"/>
                </a:solidFill>
                <a:latin typeface="Noto Sans SC"/>
                <a:ea typeface="Noto Sans SC"/>
                <a:cs typeface="Noto Sans SC"/>
                <a:sym typeface="Noto Sans SC"/>
              </a:rPr>
            </a:br>
            <a:r>
              <a:rPr lang="en-US" sz="1200" b="0" i="0" u="none" strike="noStrike" dirty="0">
                <a:solidFill>
                  <a:srgbClr val="373C46"/>
                </a:solidFill>
                <a:latin typeface="Noto Sans SC"/>
                <a:ea typeface="Noto Sans SC"/>
                <a:cs typeface="Noto Sans SC"/>
                <a:sym typeface="Noto Sans SC"/>
              </a:rPr>
              <a:t>A visually intuitive card-based interface for course browsing, featuring instructor profiles and direct enrollment. Built with Tailwind CSS fluid breakpoints to deliver a consistent experience across all screen sizes.</a:t>
            </a:r>
            <a:endParaRPr lang="en-US" sz="1100" dirty="0"/>
          </a:p>
        </p:txBody>
      </p:sp>
      <p:pic>
        <p:nvPicPr>
          <p:cNvPr id="5" name="Picture 5"/>
          <p:cNvPicPr>
            <a:picLocks noChangeAspect="1"/>
          </p:cNvPicPr>
          <p:nvPr/>
        </p:nvPicPr>
        <p:blipFill>
          <a:blip r:embed="rId3"/>
          <a:srcRect l="10944" r="10944"/>
          <a:stretch>
            <a:fillRect/>
          </a:stretch>
        </p:blipFill>
        <p:spPr>
          <a:xfrm>
            <a:off x="317500" y="2127395"/>
            <a:ext cx="2349500" cy="1905000"/>
          </a:xfrm>
          <a:prstGeom prst="rect">
            <a:avLst/>
          </a:prstGeom>
          <a:noFill/>
          <a:ln w="25400" cap="flat" cmpd="sng">
            <a:noFill/>
            <a:prstDash val="solid"/>
            <a:round/>
          </a:ln>
        </p:spPr>
      </p:pic>
      <p:pic>
        <p:nvPicPr>
          <p:cNvPr id="6" name="Picture 6"/>
          <p:cNvPicPr>
            <a:picLocks noChangeAspect="1"/>
          </p:cNvPicPr>
          <p:nvPr/>
        </p:nvPicPr>
        <p:blipFill>
          <a:blip r:embed="rId4"/>
          <a:srcRect t="13957" b="13957"/>
          <a:stretch>
            <a:fillRect/>
          </a:stretch>
        </p:blipFill>
        <p:spPr>
          <a:xfrm>
            <a:off x="2830648" y="2127395"/>
            <a:ext cx="2349500" cy="1905000"/>
          </a:xfrm>
          <a:prstGeom prst="rect">
            <a:avLst/>
          </a:prstGeom>
          <a:noFill/>
          <a:ln w="25400" cap="flat" cmpd="sng">
            <a:noFill/>
            <a:prstDash val="solid"/>
            <a:round/>
          </a:ln>
        </p:spPr>
      </p:pic>
      <p:sp>
        <p:nvSpPr>
          <p:cNvPr id="7" name="AutoShape 7"/>
          <p:cNvSpPr/>
          <p:nvPr/>
        </p:nvSpPr>
        <p:spPr>
          <a:xfrm>
            <a:off x="5344254" y="1652651"/>
            <a:ext cx="3556000" cy="2229630"/>
          </a:xfrm>
          <a:prstGeom prst="roundRect">
            <a:avLst>
              <a:gd name="adj" fmla="val 0"/>
            </a:avLst>
          </a:prstGeom>
          <a:solidFill>
            <a:srgbClr val="EBF2FA">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8" name="AutoShape 8"/>
          <p:cNvSpPr/>
          <p:nvPr/>
        </p:nvSpPr>
        <p:spPr>
          <a:xfrm>
            <a:off x="5445854" y="1716151"/>
            <a:ext cx="3365500" cy="2080988"/>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ctr">
              <a:lnSpc>
                <a:spcPct val="116666"/>
              </a:lnSpc>
              <a:defRPr/>
            </a:pPr>
            <a:r>
              <a:rPr lang="en-US" sz="1300" b="1" i="0" u="none" strike="noStrike" dirty="0">
                <a:solidFill>
                  <a:srgbClr val="092241"/>
                </a:solidFill>
                <a:latin typeface="Noto Sans SC"/>
                <a:ea typeface="Noto Sans SC"/>
                <a:cs typeface="Noto Sans SC"/>
                <a:sym typeface="Noto Sans SC"/>
              </a:rPr>
              <a:t>Responsive &amp; Actionable Design</a:t>
            </a:r>
            <a:r>
              <a:rPr lang="en-US" sz="1300" b="0" i="0" u="none" strike="noStrike" dirty="0">
                <a:solidFill>
                  <a:srgbClr val="1F2329"/>
                </a:solidFill>
                <a:latin typeface="Noto Sans SC"/>
                <a:ea typeface="Noto Sans SC"/>
                <a:cs typeface="Noto Sans SC"/>
                <a:sym typeface="Noto Sans SC"/>
              </a:rPr>
              <a:t/>
            </a:r>
            <a:br>
              <a:rPr lang="en-US" sz="1300" b="0" i="0" u="none" strike="noStrike" dirty="0">
                <a:solidFill>
                  <a:srgbClr val="1F2329"/>
                </a:solidFill>
                <a:latin typeface="Noto Sans SC"/>
                <a:ea typeface="Noto Sans SC"/>
                <a:cs typeface="Noto Sans SC"/>
                <a:sym typeface="Noto Sans SC"/>
              </a:rPr>
            </a:br>
            <a:r>
              <a:rPr lang="en-US" sz="1300" b="0" i="0" u="none" strike="noStrike" dirty="0">
                <a:solidFill>
                  <a:srgbClr val="3C414B"/>
                </a:solidFill>
                <a:latin typeface="Noto Sans SC"/>
                <a:ea typeface="Noto Sans SC"/>
                <a:cs typeface="Noto Sans SC"/>
                <a:sym typeface="Noto Sans SC"/>
              </a:rPr>
              <a:t>Eliminates layout shifts with native </a:t>
            </a:r>
            <a:r>
              <a:rPr lang="en-US" sz="1300" b="0" i="0" u="none" strike="noStrike" dirty="0" err="1">
                <a:solidFill>
                  <a:srgbClr val="3C414B"/>
                </a:solidFill>
                <a:latin typeface="Noto Sans SC"/>
                <a:ea typeface="Noto Sans SC"/>
                <a:cs typeface="Noto Sans SC"/>
                <a:sym typeface="Noto Sans SC"/>
              </a:rPr>
              <a:t>sm</a:t>
            </a:r>
            <a:r>
              <a:rPr lang="en-US" sz="1300" b="0" i="0" u="none" strike="noStrike" dirty="0">
                <a:solidFill>
                  <a:srgbClr val="3C414B"/>
                </a:solidFill>
                <a:latin typeface="Noto Sans SC"/>
                <a:ea typeface="Noto Sans SC"/>
                <a:cs typeface="Noto Sans SC"/>
                <a:sym typeface="Noto Sans SC"/>
              </a:rPr>
              <a:t>-xl breakpoints. Visual thumbnails accelerate course discovery, while integrated enrollment actions streamline the student journey from browsing to registration.</a:t>
            </a:r>
            <a:endParaRPr lang="en-US" sz="1100" dirty="0"/>
          </a:p>
        </p:txBody>
      </p:sp>
      <p:sp>
        <p:nvSpPr>
          <p:cNvPr id="9" name="AutoShape 9"/>
          <p:cNvSpPr/>
          <p:nvPr/>
        </p:nvSpPr>
        <p:spPr>
          <a:xfrm>
            <a:off x="126999" y="4099070"/>
            <a:ext cx="8875921" cy="1016000"/>
          </a:xfrm>
          <a:prstGeom prst="roundRect">
            <a:avLst>
              <a:gd name="adj" fmla="val 0"/>
            </a:avLst>
          </a:prstGeom>
          <a:solidFill>
            <a:srgbClr val="092241">
              <a:alpha val="4000"/>
            </a:srgbClr>
          </a:solidFill>
          <a:ln w="25400" cap="flat" cmpd="sng">
            <a:noFill/>
            <a:prstDash val="solid"/>
            <a:round/>
          </a:ln>
        </p:spPr>
        <p:txBody>
          <a:bodyPr vert="horz" wrap="square" lIns="63500" tIns="63500" rIns="63500" bIns="63500" rtlCol="0" anchor="ctr"/>
          <a:lstStyle/>
          <a:p>
            <a:pPr algn="ctr">
              <a:defRPr/>
            </a:pPr>
            <a:endParaRPr/>
          </a:p>
        </p:txBody>
      </p:sp>
      <p:sp>
        <p:nvSpPr>
          <p:cNvPr id="10" name="AutoShape 10"/>
          <p:cNvSpPr/>
          <p:nvPr/>
        </p:nvSpPr>
        <p:spPr>
          <a:xfrm>
            <a:off x="215900" y="4137170"/>
            <a:ext cx="8684354" cy="8890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ctr">
              <a:lnSpc>
                <a:spcPct val="108333"/>
              </a:lnSpc>
              <a:defRPr/>
            </a:pPr>
            <a:r>
              <a:rPr lang="en-US" sz="1200" b="1" i="0" u="none" strike="noStrike" dirty="0">
                <a:solidFill>
                  <a:srgbClr val="092241"/>
                </a:solidFill>
                <a:latin typeface="Noto Sans SC"/>
                <a:ea typeface="Noto Sans SC"/>
                <a:cs typeface="Noto Sans SC"/>
                <a:sym typeface="Noto Sans SC"/>
              </a:rPr>
              <a:t>Core Outcomes</a:t>
            </a:r>
            <a:r>
              <a:rPr lang="en-US" sz="1200" b="1" i="0" u="none" strike="noStrike" dirty="0" smtClean="0">
                <a:solidFill>
                  <a:srgbClr val="092241"/>
                </a:solidFill>
                <a:latin typeface="Noto Sans SC"/>
                <a:ea typeface="Noto Sans SC"/>
                <a:cs typeface="Noto Sans SC"/>
                <a:sym typeface="Noto Sans SC"/>
              </a:rPr>
              <a:t>: </a:t>
            </a:r>
            <a:r>
              <a:rPr lang="en-US" sz="1200" b="0" i="0" u="none" strike="noStrike" dirty="0" smtClean="0">
                <a:solidFill>
                  <a:srgbClr val="2D323C"/>
                </a:solidFill>
                <a:latin typeface="Noto Sans SC"/>
                <a:ea typeface="Noto Sans SC"/>
                <a:cs typeface="Noto Sans SC"/>
                <a:sym typeface="Noto Sans SC"/>
              </a:rPr>
              <a:t>By </a:t>
            </a:r>
            <a:r>
              <a:rPr lang="en-US" sz="1200" b="0" i="0" u="none" strike="noStrike" dirty="0">
                <a:solidFill>
                  <a:srgbClr val="2D323C"/>
                </a:solidFill>
                <a:latin typeface="Noto Sans SC"/>
                <a:ea typeface="Noto Sans SC"/>
                <a:cs typeface="Noto Sans SC"/>
                <a:sym typeface="Noto Sans SC"/>
              </a:rPr>
              <a:t>combining a modern card layout with robust responsive engineering, the interface ensures that both administrators managing content and students exploring courses enjoy an uncompromised, efficient experience on any device.</a:t>
            </a:r>
            <a:endParaRPr lang="en-US" sz="1100" dirty="0"/>
          </a:p>
        </p:txBody>
      </p:sp>
      <p:pic>
        <p:nvPicPr>
          <p:cNvPr id="11" name="Picture 10"/>
          <p:cNvPicPr>
            <a:picLocks noChangeAspect="1"/>
          </p:cNvPicPr>
          <p:nvPr/>
        </p:nvPicPr>
        <p:blipFill>
          <a:blip r:embed="rId5"/>
          <a:stretch>
            <a:fillRect/>
          </a:stretch>
        </p:blipFill>
        <p:spPr>
          <a:xfrm flipH="1">
            <a:off x="7456847" y="788434"/>
            <a:ext cx="939655" cy="939655"/>
          </a:xfrm>
          <a:prstGeom prst="rect">
            <a:avLst/>
          </a:prstGeom>
        </p:spPr>
      </p:pic>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8F8F8">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0" y="12700"/>
            <a:ext cx="3810000" cy="5080000"/>
          </a:xfrm>
          <a:prstGeom prst="rtTriangle">
            <a:avLst/>
          </a:prstGeom>
          <a:solidFill>
            <a:srgbClr val="092241">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673100" y="63500"/>
            <a:ext cx="7620000" cy="5588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25000"/>
              </a:lnSpc>
              <a:defRPr/>
            </a:pPr>
            <a:r>
              <a:rPr lang="en-US" sz="4200" b="1" i="0" u="none" strike="noStrike">
                <a:solidFill>
                  <a:srgbClr val="092241"/>
                </a:solidFill>
                <a:latin typeface="Archivo Black"/>
                <a:ea typeface="Archivo Black"/>
                <a:cs typeface="Archivo Black"/>
                <a:sym typeface="Archivo Black"/>
              </a:rPr>
              <a:t>Course Workspace</a:t>
            </a:r>
            <a:endParaRPr lang="en-US" sz="1100"/>
          </a:p>
        </p:txBody>
      </p:sp>
      <p:sp>
        <p:nvSpPr>
          <p:cNvPr id="4" name="AutoShape 4"/>
          <p:cNvSpPr/>
          <p:nvPr/>
        </p:nvSpPr>
        <p:spPr>
          <a:xfrm>
            <a:off x="673100" y="520700"/>
            <a:ext cx="7620000" cy="4318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25000"/>
              </a:lnSpc>
              <a:defRPr/>
            </a:pPr>
            <a:r>
              <a:rPr lang="en-US" sz="1800" b="0" i="0" u="none" strike="noStrike">
                <a:solidFill>
                  <a:srgbClr val="6194E6"/>
                </a:solidFill>
                <a:latin typeface="Archivo Narrow"/>
                <a:ea typeface="Archivo Narrow"/>
                <a:cs typeface="Archivo Narrow"/>
                <a:sym typeface="Archivo Narrow"/>
              </a:rPr>
              <a:t>Content Delivery &amp; Academic Mapping</a:t>
            </a:r>
            <a:endParaRPr lang="en-US" sz="1100"/>
          </a:p>
        </p:txBody>
      </p:sp>
      <p:pic>
        <p:nvPicPr>
          <p:cNvPr id="5" name="Picture 5"/>
          <p:cNvPicPr>
            <a:picLocks noChangeAspect="1"/>
          </p:cNvPicPr>
          <p:nvPr/>
        </p:nvPicPr>
        <p:blipFill>
          <a:blip r:embed="rId3"/>
          <a:srcRect t="6554" b="6554"/>
          <a:stretch>
            <a:fillRect/>
          </a:stretch>
        </p:blipFill>
        <p:spPr>
          <a:xfrm>
            <a:off x="158750" y="952500"/>
            <a:ext cx="4038600" cy="2222500"/>
          </a:xfrm>
          <a:prstGeom prst="rect">
            <a:avLst/>
          </a:prstGeom>
          <a:noFill/>
          <a:ln w="25400" cap="flat" cmpd="sng">
            <a:noFill/>
            <a:prstDash val="solid"/>
            <a:round/>
          </a:ln>
        </p:spPr>
      </p:pic>
      <p:sp>
        <p:nvSpPr>
          <p:cNvPr id="6" name="AutoShape 6"/>
          <p:cNvSpPr/>
          <p:nvPr/>
        </p:nvSpPr>
        <p:spPr>
          <a:xfrm>
            <a:off x="171523" y="3175000"/>
            <a:ext cx="4038600" cy="1917700"/>
          </a:xfrm>
          <a:prstGeom prst="roundRect">
            <a:avLst>
              <a:gd name="adj" fmla="val 0"/>
            </a:avLst>
          </a:prstGeom>
          <a:solidFill>
            <a:srgbClr val="092241"/>
          </a:solidFill>
          <a:ln w="25400" cap="flat" cmpd="sng">
            <a:noFill/>
            <a:prstDash val="solid"/>
            <a:round/>
          </a:ln>
        </p:spPr>
        <p:txBody>
          <a:bodyPr vert="horz" wrap="square" lIns="63500" tIns="63500" rIns="63500" bIns="63500" rtlCol="0" anchor="ctr"/>
          <a:lstStyle/>
          <a:p>
            <a:pPr algn="ctr">
              <a:defRPr/>
            </a:pPr>
            <a:endParaRPr/>
          </a:p>
        </p:txBody>
      </p:sp>
      <p:sp>
        <p:nvSpPr>
          <p:cNvPr id="7" name="AutoShape 7"/>
          <p:cNvSpPr/>
          <p:nvPr/>
        </p:nvSpPr>
        <p:spPr>
          <a:xfrm>
            <a:off x="235023" y="3263900"/>
            <a:ext cx="3911600" cy="17145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16666"/>
              </a:lnSpc>
              <a:defRPr/>
            </a:pPr>
            <a:r>
              <a:rPr lang="en-US" sz="1200" b="1" i="0" u="none" strike="noStrike" dirty="0">
                <a:solidFill>
                  <a:schemeClr val="tx2"/>
                </a:solidFill>
                <a:latin typeface="Arial"/>
                <a:ea typeface="Arial"/>
                <a:cs typeface="Arial"/>
                <a:sym typeface="Arial"/>
              </a:rPr>
              <a:t>Immersive Learning Portal:</a:t>
            </a:r>
            <a:r>
              <a:rPr lang="en-US" sz="1200" b="0" i="0" u="none" strike="noStrike" dirty="0">
                <a:solidFill>
                  <a:schemeClr val="tx2"/>
                </a:solidFill>
                <a:sym typeface="Arial"/>
              </a:rPr>
              <a:t/>
            </a:r>
            <a:br>
              <a:rPr lang="en-US" sz="1200" b="0" i="0" u="none" strike="noStrike" dirty="0">
                <a:solidFill>
                  <a:schemeClr val="tx2"/>
                </a:solidFill>
                <a:sym typeface="Arial"/>
              </a:rPr>
            </a:br>
            <a:r>
              <a:rPr lang="en-US" sz="1200" b="0" i="0" u="none" strike="noStrike" dirty="0">
                <a:solidFill>
                  <a:schemeClr val="tx2"/>
                </a:solidFill>
                <a:sym typeface="Arial"/>
              </a:rPr>
              <a:t>This dedicated course interface serves as the central hub for students. It features a modern, intuitive dashboard that combines a motivational welcome message with direct access to the core LMS functionality. The visual design emphasizes clarity, guiding learners from enrollment to active participation in coursework seamlessly.</a:t>
            </a:r>
            <a:endParaRPr lang="en-US" sz="1100" dirty="0">
              <a:solidFill>
                <a:schemeClr val="tx2"/>
              </a:solidFill>
            </a:endParaRPr>
          </a:p>
        </p:txBody>
      </p:sp>
      <p:sp>
        <p:nvSpPr>
          <p:cNvPr id="8" name="AutoShape 8"/>
          <p:cNvSpPr/>
          <p:nvPr/>
        </p:nvSpPr>
        <p:spPr>
          <a:xfrm>
            <a:off x="4381500" y="1130300"/>
            <a:ext cx="4432300" cy="1714500"/>
          </a:xfrm>
          <a:prstGeom prst="roundRect">
            <a:avLst>
              <a:gd name="adj" fmla="val 0"/>
            </a:avLst>
          </a:prstGeom>
          <a:solidFill>
            <a:srgbClr val="6194E6">
              <a:alpha val="18000"/>
            </a:srgbClr>
          </a:solidFill>
          <a:ln w="25400" cap="flat" cmpd="sng">
            <a:noFill/>
            <a:prstDash val="solid"/>
            <a:round/>
          </a:ln>
        </p:spPr>
        <p:txBody>
          <a:bodyPr vert="horz" wrap="square" lIns="63500" tIns="63500" rIns="63500" bIns="63500" rtlCol="0" anchor="ctr"/>
          <a:lstStyle/>
          <a:p>
            <a:pPr algn="ctr">
              <a:defRPr/>
            </a:pPr>
            <a:endParaRPr/>
          </a:p>
        </p:txBody>
      </p:sp>
      <p:sp>
        <p:nvSpPr>
          <p:cNvPr id="9" name="AutoShape 9"/>
          <p:cNvSpPr/>
          <p:nvPr/>
        </p:nvSpPr>
        <p:spPr>
          <a:xfrm>
            <a:off x="4521200" y="1244600"/>
            <a:ext cx="76200" cy="76200"/>
          </a:xfrm>
          <a:prstGeom prst="ellipse">
            <a:avLst/>
          </a:prstGeom>
          <a:solidFill>
            <a:srgbClr val="092241">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0" name="AutoShape 10"/>
          <p:cNvSpPr/>
          <p:nvPr/>
        </p:nvSpPr>
        <p:spPr>
          <a:xfrm>
            <a:off x="4749800" y="1244600"/>
            <a:ext cx="76200" cy="76200"/>
          </a:xfrm>
          <a:prstGeom prst="ellipse">
            <a:avLst/>
          </a:prstGeom>
          <a:solidFill>
            <a:srgbClr val="092241">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1" name="AutoShape 11"/>
          <p:cNvSpPr/>
          <p:nvPr/>
        </p:nvSpPr>
        <p:spPr>
          <a:xfrm>
            <a:off x="4978400" y="1244600"/>
            <a:ext cx="76200" cy="76200"/>
          </a:xfrm>
          <a:prstGeom prst="ellipse">
            <a:avLst/>
          </a:prstGeom>
          <a:solidFill>
            <a:srgbClr val="092241">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2" name="AutoShape 12"/>
          <p:cNvSpPr/>
          <p:nvPr/>
        </p:nvSpPr>
        <p:spPr>
          <a:xfrm>
            <a:off x="5207000" y="1270000"/>
            <a:ext cx="3302000" cy="3810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25000"/>
              </a:lnSpc>
              <a:defRPr/>
            </a:pPr>
            <a:r>
              <a:rPr lang="en-US" sz="1600" b="0" i="0" u="none" strike="noStrike">
                <a:solidFill>
                  <a:srgbClr val="092241"/>
                </a:solidFill>
                <a:latin typeface="Archivo Black"/>
                <a:ea typeface="Archivo Black"/>
                <a:cs typeface="Archivo Black"/>
                <a:sym typeface="Archivo Black"/>
              </a:rPr>
              <a:t>Structured Navigation</a:t>
            </a:r>
            <a:endParaRPr lang="en-US" sz="1100"/>
          </a:p>
        </p:txBody>
      </p:sp>
      <p:sp>
        <p:nvSpPr>
          <p:cNvPr id="13" name="AutoShape 13"/>
          <p:cNvSpPr/>
          <p:nvPr/>
        </p:nvSpPr>
        <p:spPr>
          <a:xfrm>
            <a:off x="4533900" y="1676400"/>
            <a:ext cx="4178300" cy="10795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08333"/>
              </a:lnSpc>
              <a:defRPr/>
            </a:pPr>
            <a:r>
              <a:rPr lang="en-US" sz="1200" b="0" i="0" u="none" strike="noStrike">
                <a:solidFill>
                  <a:srgbClr val="3C3C3C"/>
                </a:solidFill>
                <a:latin typeface="Arial"/>
                <a:ea typeface="Arial"/>
                <a:cs typeface="Arial"/>
                <a:sym typeface="Arial"/>
              </a:rPr>
              <a:t>Built on a clean lesson index hierarchy, the framework effortlessly supports complex technical curricula like the "Moodle App (Open-Source LMS)". This logical structure minimizes cognitive load, enabling learners to navigate deep content trees and locate specific modules or resources with just a few clicks.</a:t>
            </a:r>
            <a:endParaRPr lang="en-US" sz="1100"/>
          </a:p>
        </p:txBody>
      </p:sp>
      <p:sp>
        <p:nvSpPr>
          <p:cNvPr id="14" name="AutoShape 14"/>
          <p:cNvSpPr/>
          <p:nvPr/>
        </p:nvSpPr>
        <p:spPr>
          <a:xfrm>
            <a:off x="4381500" y="3149600"/>
            <a:ext cx="4432300" cy="1803400"/>
          </a:xfrm>
          <a:prstGeom prst="roundRect">
            <a:avLst>
              <a:gd name="adj" fmla="val 0"/>
            </a:avLst>
          </a:prstGeom>
          <a:solidFill>
            <a:srgbClr val="6194E6">
              <a:alpha val="18000"/>
            </a:srgbClr>
          </a:solidFill>
          <a:ln w="25400" cap="flat" cmpd="sng">
            <a:noFill/>
            <a:prstDash val="solid"/>
            <a:round/>
          </a:ln>
        </p:spPr>
        <p:txBody>
          <a:bodyPr vert="horz" wrap="square" lIns="63500" tIns="63500" rIns="63500" bIns="63500" rtlCol="0" anchor="ctr"/>
          <a:lstStyle/>
          <a:p>
            <a:pPr algn="ctr">
              <a:defRPr/>
            </a:pPr>
            <a:endParaRPr/>
          </a:p>
        </p:txBody>
      </p:sp>
      <p:sp>
        <p:nvSpPr>
          <p:cNvPr id="15" name="AutoShape 15"/>
          <p:cNvSpPr/>
          <p:nvPr/>
        </p:nvSpPr>
        <p:spPr>
          <a:xfrm>
            <a:off x="4521200" y="3340100"/>
            <a:ext cx="76200" cy="76200"/>
          </a:xfrm>
          <a:prstGeom prst="ellipse">
            <a:avLst/>
          </a:prstGeom>
          <a:solidFill>
            <a:srgbClr val="092241">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6" name="AutoShape 16"/>
          <p:cNvSpPr/>
          <p:nvPr/>
        </p:nvSpPr>
        <p:spPr>
          <a:xfrm>
            <a:off x="4749800" y="3340100"/>
            <a:ext cx="76200" cy="76200"/>
          </a:xfrm>
          <a:prstGeom prst="ellipse">
            <a:avLst/>
          </a:prstGeom>
          <a:solidFill>
            <a:srgbClr val="092241">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7" name="AutoShape 17"/>
          <p:cNvSpPr/>
          <p:nvPr/>
        </p:nvSpPr>
        <p:spPr>
          <a:xfrm>
            <a:off x="4978400" y="3340100"/>
            <a:ext cx="76200" cy="76200"/>
          </a:xfrm>
          <a:prstGeom prst="ellipse">
            <a:avLst/>
          </a:prstGeom>
          <a:solidFill>
            <a:srgbClr val="092241">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8" name="AutoShape 18"/>
          <p:cNvSpPr/>
          <p:nvPr/>
        </p:nvSpPr>
        <p:spPr>
          <a:xfrm>
            <a:off x="5207000" y="3390900"/>
            <a:ext cx="3302000" cy="3810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25000"/>
              </a:lnSpc>
              <a:defRPr/>
            </a:pPr>
            <a:r>
              <a:rPr lang="en-US" sz="1600" b="0" i="0" u="none" strike="noStrike">
                <a:solidFill>
                  <a:srgbClr val="092241"/>
                </a:solidFill>
                <a:latin typeface="Archivo Black"/>
                <a:ea typeface="Archivo Black"/>
                <a:cs typeface="Archivo Black"/>
                <a:sym typeface="Archivo Black"/>
              </a:rPr>
              <a:t>Integrated Ecosystem</a:t>
            </a:r>
            <a:endParaRPr lang="en-US" sz="1100"/>
          </a:p>
        </p:txBody>
      </p:sp>
      <p:sp>
        <p:nvSpPr>
          <p:cNvPr id="19" name="AutoShape 19"/>
          <p:cNvSpPr/>
          <p:nvPr/>
        </p:nvSpPr>
        <p:spPr>
          <a:xfrm>
            <a:off x="4521200" y="3771900"/>
            <a:ext cx="4165600" cy="11176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08333"/>
              </a:lnSpc>
              <a:defRPr/>
            </a:pPr>
            <a:r>
              <a:rPr lang="en-US" sz="1200" b="0" i="0" u="none" strike="noStrike">
                <a:solidFill>
                  <a:srgbClr val="3C3C3C"/>
                </a:solidFill>
                <a:latin typeface="Arial"/>
                <a:ea typeface="Arial"/>
                <a:cs typeface="Arial"/>
                <a:sym typeface="Arial"/>
              </a:rPr>
              <a:t>Persistent sidebar menus create a clear separation between active learning materials (class files, lectures) and administrative workflows (assignment submissions, grades). This compartmentalization streamlines task-switching, keeping the focus on learning while ensuring critical academic tools remain instantly accessible.</a:t>
            </a:r>
            <a:endParaRPr lang="en-US" sz="1100"/>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pic>
        <p:nvPicPr>
          <p:cNvPr id="6" name="Picture 6"/>
          <p:cNvPicPr>
            <a:picLocks noChangeAspect="1"/>
          </p:cNvPicPr>
          <p:nvPr/>
        </p:nvPicPr>
        <p:blipFill>
          <a:blip r:embed="rId3"/>
          <a:srcRect l="670" r="670"/>
          <a:stretch>
            <a:fillRect/>
          </a:stretch>
        </p:blipFill>
        <p:spPr>
          <a:xfrm>
            <a:off x="0" y="952500"/>
            <a:ext cx="3937000" cy="2527300"/>
          </a:xfrm>
          <a:prstGeom prst="rect">
            <a:avLst/>
          </a:prstGeom>
          <a:noFill/>
          <a:ln w="25400" cap="flat" cmpd="sng">
            <a:noFill/>
            <a:prstDash val="solid"/>
            <a:round/>
          </a:ln>
        </p:spPr>
      </p:pic>
      <p:sp>
        <p:nvSpPr>
          <p:cNvPr id="2" name="AutoShape 2"/>
          <p:cNvSpPr/>
          <p:nvPr/>
        </p:nvSpPr>
        <p:spPr>
          <a:xfrm>
            <a:off x="0" y="0"/>
            <a:ext cx="9144000" cy="673100"/>
          </a:xfrm>
          <a:prstGeom prst="roundRect">
            <a:avLst>
              <a:gd name="adj" fmla="val 0"/>
            </a:avLst>
          </a:prstGeom>
          <a:solidFill>
            <a:srgbClr val="003366">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419100" y="88900"/>
            <a:ext cx="8293100" cy="4318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ctr">
              <a:lnSpc>
                <a:spcPct val="125000"/>
              </a:lnSpc>
              <a:defRPr/>
            </a:pPr>
            <a:r>
              <a:rPr lang="en-US" sz="3200" b="1" i="0" u="none" strike="noStrike">
                <a:solidFill>
                  <a:srgbClr val="FFFFFF"/>
                </a:solidFill>
                <a:latin typeface="Arial"/>
                <a:ea typeface="Arial"/>
                <a:cs typeface="Arial"/>
                <a:sym typeface="Arial"/>
              </a:rPr>
              <a:t>Student Analytics</a:t>
            </a:r>
            <a:r>
              <a:rPr lang="en-US" sz="3200" b="1" i="0" u="none" strike="noStrike">
                <a:solidFill>
                  <a:srgbClr val="FFFFFF"/>
                </a:solidFill>
                <a:effectLst>
                  <a:outerShdw blurRad="38100" dist="38100" dir="2700000" algn="tl" rotWithShape="0">
                    <a:srgbClr val="000000">
                      <a:alpha val="43100"/>
                    </a:srgbClr>
                  </a:outerShdw>
                </a:effectLst>
                <a:latin typeface="Arial"/>
                <a:ea typeface="Arial"/>
                <a:cs typeface="Arial"/>
                <a:sym typeface="Arial"/>
              </a:rPr>
              <a:t>Engine</a:t>
            </a:r>
            <a:endParaRPr lang="en-US" sz="1100"/>
          </a:p>
        </p:txBody>
      </p:sp>
      <p:sp>
        <p:nvSpPr>
          <p:cNvPr id="4" name="AutoShape 4"/>
          <p:cNvSpPr/>
          <p:nvPr/>
        </p:nvSpPr>
        <p:spPr>
          <a:xfrm>
            <a:off x="0" y="698500"/>
            <a:ext cx="9144000" cy="508000"/>
          </a:xfrm>
          <a:prstGeom prst="roundRect">
            <a:avLst>
              <a:gd name="adj" fmla="val 0"/>
            </a:avLst>
          </a:prstGeom>
          <a:solidFill>
            <a:srgbClr val="EBF5FF">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5" name="AutoShape 5"/>
          <p:cNvSpPr/>
          <p:nvPr/>
        </p:nvSpPr>
        <p:spPr>
          <a:xfrm>
            <a:off x="317500" y="698500"/>
            <a:ext cx="8826500" cy="4445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003366"/>
                </a:solidFill>
                <a:latin typeface="Noto Sans SC"/>
                <a:ea typeface="Noto Sans SC"/>
                <a:cs typeface="Noto Sans SC"/>
                <a:sym typeface="Noto Sans SC"/>
              </a:rPr>
              <a:t>Learning Metrics &amp; Progress Telemetry</a:t>
            </a:r>
            <a:endParaRPr lang="en-US" sz="1100"/>
          </a:p>
        </p:txBody>
      </p:sp>
      <p:sp>
        <p:nvSpPr>
          <p:cNvPr id="7" name="AutoShape 7"/>
          <p:cNvSpPr/>
          <p:nvPr/>
        </p:nvSpPr>
        <p:spPr>
          <a:xfrm>
            <a:off x="3937000" y="1231900"/>
            <a:ext cx="5207000" cy="3911600"/>
          </a:xfrm>
          <a:prstGeom prst="roundRect">
            <a:avLst>
              <a:gd name="adj" fmla="val 0"/>
            </a:avLst>
          </a:prstGeom>
          <a:solidFill>
            <a:srgbClr val="F0F8FF">
              <a:alpha val="100000"/>
            </a:srgbClr>
          </a:solidFill>
          <a:ln w="12700" cap="flat" cmpd="sng">
            <a:solidFill>
              <a:srgbClr val="6495ED">
                <a:alpha val="100000"/>
              </a:srgbClr>
            </a:solidFill>
            <a:prstDash val="solid"/>
            <a:round/>
          </a:ln>
        </p:spPr>
        <p:txBody>
          <a:bodyPr vert="horz" wrap="square" lIns="63500" tIns="63500" rIns="63500" bIns="63500" rtlCol="0" anchor="ctr"/>
          <a:lstStyle/>
          <a:p>
            <a:pPr algn="ctr">
              <a:defRPr/>
            </a:pPr>
            <a:endParaRPr/>
          </a:p>
        </p:txBody>
      </p:sp>
      <p:sp>
        <p:nvSpPr>
          <p:cNvPr id="8" name="AutoShape 8"/>
          <p:cNvSpPr/>
          <p:nvPr/>
        </p:nvSpPr>
        <p:spPr>
          <a:xfrm>
            <a:off x="4501397" y="1333245"/>
            <a:ext cx="4216400" cy="391525"/>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dirty="0">
                <a:solidFill>
                  <a:srgbClr val="003366"/>
                </a:solidFill>
                <a:latin typeface="Noto Sans SC"/>
                <a:ea typeface="Noto Sans SC"/>
                <a:cs typeface="Noto Sans SC"/>
                <a:sym typeface="Noto Sans SC"/>
              </a:rPr>
              <a:t>Core Functional Capabilities</a:t>
            </a:r>
            <a:endParaRPr lang="en-US" sz="1100" dirty="0"/>
          </a:p>
        </p:txBody>
      </p:sp>
      <p:sp>
        <p:nvSpPr>
          <p:cNvPr id="9" name="AutoShape 9"/>
          <p:cNvSpPr/>
          <p:nvPr/>
        </p:nvSpPr>
        <p:spPr>
          <a:xfrm>
            <a:off x="4080592" y="1745995"/>
            <a:ext cx="4699000" cy="3120943"/>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16666"/>
              </a:lnSpc>
              <a:defRPr/>
            </a:pPr>
            <a:r>
              <a:rPr lang="en-US" sz="1300" b="0" i="0" u="none" strike="noStrike" dirty="0">
                <a:solidFill>
                  <a:srgbClr val="14233C"/>
                </a:solidFill>
                <a:latin typeface="Noto Sans SC"/>
                <a:ea typeface="Noto Sans SC"/>
                <a:cs typeface="Noto Sans SC"/>
                <a:sym typeface="Noto Sans SC"/>
              </a:rPr>
              <a:t>The </a:t>
            </a:r>
            <a:r>
              <a:rPr lang="en-US" sz="1300" b="0" i="0" u="none" strike="noStrike" dirty="0" smtClean="0">
                <a:solidFill>
                  <a:srgbClr val="14233C"/>
                </a:solidFill>
                <a:latin typeface="Noto Sans SC"/>
                <a:ea typeface="Noto Sans SC"/>
                <a:cs typeface="Noto Sans SC"/>
                <a:sym typeface="Noto Sans SC"/>
              </a:rPr>
              <a:t>engine delivers comprehensive oversight of </a:t>
            </a:r>
            <a:r>
              <a:rPr lang="en-US" sz="1300" b="0" i="0" u="none" strike="noStrike" dirty="0">
                <a:solidFill>
                  <a:srgbClr val="14233C"/>
                </a:solidFill>
                <a:latin typeface="Noto Sans SC"/>
                <a:ea typeface="Noto Sans SC"/>
                <a:cs typeface="Noto Sans SC"/>
                <a:sym typeface="Noto Sans SC"/>
              </a:rPr>
              <a:t>the learning lifecycle through two pivotal modules, designed to make data accessible and actionable for educators and learners alike.</a:t>
            </a:r>
            <a:endParaRPr lang="en-US" sz="1100" dirty="0"/>
          </a:p>
          <a:p>
            <a:pPr marL="0" indent="0" algn="l">
              <a:lnSpc>
                <a:spcPct val="116666"/>
              </a:lnSpc>
            </a:pPr>
            <a:r>
              <a:rPr lang="en-US" sz="1300" b="1" i="0" u="none" strike="noStrike" dirty="0">
                <a:solidFill>
                  <a:srgbClr val="003366"/>
                </a:solidFill>
                <a:latin typeface="Noto Sans SC"/>
                <a:ea typeface="Noto Sans SC"/>
                <a:cs typeface="Noto Sans SC"/>
                <a:sym typeface="Noto Sans SC"/>
              </a:rPr>
              <a:t>• Data Visualization</a:t>
            </a:r>
            <a:r>
              <a:rPr lang="en-US" sz="1300" b="1" i="0" u="none" strike="noStrike" dirty="0" smtClean="0">
                <a:solidFill>
                  <a:srgbClr val="003366"/>
                </a:solidFill>
                <a:latin typeface="Noto Sans SC"/>
                <a:ea typeface="Noto Sans SC"/>
                <a:cs typeface="Noto Sans SC"/>
                <a:sym typeface="Noto Sans SC"/>
              </a:rPr>
              <a:t>: </a:t>
            </a:r>
            <a:r>
              <a:rPr lang="en-US" sz="1300" b="0" i="0" u="none" strike="noStrike" dirty="0" smtClean="0">
                <a:solidFill>
                  <a:srgbClr val="32465A"/>
                </a:solidFill>
                <a:latin typeface="Noto Sans SC"/>
                <a:ea typeface="Noto Sans SC"/>
                <a:cs typeface="Noto Sans SC"/>
                <a:sym typeface="Noto Sans SC"/>
              </a:rPr>
              <a:t>Dynamic </a:t>
            </a:r>
            <a:r>
              <a:rPr lang="en-US" sz="1300" b="0" i="0" u="none" strike="noStrike" dirty="0">
                <a:solidFill>
                  <a:srgbClr val="32465A"/>
                </a:solidFill>
                <a:latin typeface="Noto Sans SC"/>
                <a:ea typeface="Noto Sans SC"/>
                <a:cs typeface="Noto Sans SC"/>
                <a:sym typeface="Noto Sans SC"/>
              </a:rPr>
              <a:t>indicators track milestones like graduation progress in real-time, with active metrics (e.g., 75% completion) displayed for instant status assessment.</a:t>
            </a:r>
          </a:p>
          <a:p>
            <a:pPr marL="0" indent="0" algn="l">
              <a:lnSpc>
                <a:spcPct val="116666"/>
              </a:lnSpc>
            </a:pPr>
            <a:r>
              <a:rPr lang="en-US" sz="1300" b="1" i="0" u="none" strike="noStrike" dirty="0">
                <a:solidFill>
                  <a:srgbClr val="003366"/>
                </a:solidFill>
                <a:latin typeface="Noto Sans SC"/>
                <a:ea typeface="Noto Sans SC"/>
                <a:cs typeface="Noto Sans SC"/>
                <a:sym typeface="Noto Sans SC"/>
              </a:rPr>
              <a:t>• Live Telemetry</a:t>
            </a:r>
            <a:r>
              <a:rPr lang="en-US" sz="1300" b="1" i="0" u="none" strike="noStrike" dirty="0" smtClean="0">
                <a:solidFill>
                  <a:srgbClr val="003366"/>
                </a:solidFill>
                <a:latin typeface="Noto Sans SC"/>
                <a:ea typeface="Noto Sans SC"/>
                <a:cs typeface="Noto Sans SC"/>
                <a:sym typeface="Noto Sans SC"/>
              </a:rPr>
              <a:t>: </a:t>
            </a:r>
            <a:r>
              <a:rPr lang="en-US" sz="1300" b="0" i="0" u="none" strike="noStrike" dirty="0" smtClean="0">
                <a:solidFill>
                  <a:srgbClr val="32465A"/>
                </a:solidFill>
                <a:latin typeface="Noto Sans SC"/>
                <a:ea typeface="Noto Sans SC"/>
                <a:cs typeface="Noto Sans SC"/>
                <a:sym typeface="Noto Sans SC"/>
              </a:rPr>
              <a:t>System </a:t>
            </a:r>
            <a:r>
              <a:rPr lang="en-US" sz="1300" b="0" i="0" u="none" strike="noStrike" dirty="0">
                <a:solidFill>
                  <a:srgbClr val="32465A"/>
                </a:solidFill>
                <a:latin typeface="Noto Sans SC"/>
                <a:ea typeface="Noto Sans SC"/>
                <a:cs typeface="Noto Sans SC"/>
                <a:sym typeface="Noto Sans SC"/>
              </a:rPr>
              <a:t>badges monitor course completion velocity while usage charts provide operational insights into platform interaction and learning activity trends.</a:t>
            </a:r>
          </a:p>
        </p:txBody>
      </p:sp>
      <p:pic>
        <p:nvPicPr>
          <p:cNvPr id="13" name="Picture 13"/>
          <p:cNvPicPr>
            <a:picLocks noChangeAspect="1"/>
          </p:cNvPicPr>
          <p:nvPr/>
        </p:nvPicPr>
        <p:blipFill>
          <a:blip r:embed="rId4"/>
          <a:srcRect/>
          <a:stretch>
            <a:fillRect/>
          </a:stretch>
        </p:blipFill>
        <p:spPr>
          <a:xfrm>
            <a:off x="6884053" y="-56134"/>
            <a:ext cx="673100" cy="673100"/>
          </a:xfrm>
          <a:prstGeom prst="rect">
            <a:avLst/>
          </a:prstGeom>
          <a:noFill/>
          <a:ln w="25400" cap="flat" cmpd="sng">
            <a:noFill/>
            <a:prstDash val="solid"/>
            <a:round/>
          </a:ln>
        </p:spPr>
      </p:pic>
      <p:pic>
        <p:nvPicPr>
          <p:cNvPr id="14" name="Picture 14"/>
          <p:cNvPicPr>
            <a:picLocks noChangeAspect="1"/>
          </p:cNvPicPr>
          <p:nvPr/>
        </p:nvPicPr>
        <p:blipFill>
          <a:blip r:embed="rId5"/>
          <a:srcRect/>
          <a:stretch>
            <a:fillRect/>
          </a:stretch>
        </p:blipFill>
        <p:spPr>
          <a:xfrm>
            <a:off x="4084003" y="1390396"/>
            <a:ext cx="355600" cy="365424"/>
          </a:xfrm>
          <a:prstGeom prst="rect">
            <a:avLst/>
          </a:prstGeom>
          <a:noFill/>
          <a:ln w="25400" cap="flat" cmpd="sng">
            <a:noFill/>
            <a:prstDash val="solid"/>
            <a:round/>
          </a:ln>
        </p:spPr>
      </p:pic>
      <p:pic>
        <p:nvPicPr>
          <p:cNvPr id="15" name="Picture 14"/>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0" y="3004456"/>
            <a:ext cx="3937000" cy="2139043"/>
          </a:xfrm>
          <a:prstGeom prst="rect">
            <a:avLst/>
          </a:prstGeom>
        </p:spPr>
      </p:pic>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8F8F8">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3331463" y="263799"/>
            <a:ext cx="5334000" cy="8890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91666"/>
              </a:lnSpc>
              <a:defRPr/>
            </a:pPr>
            <a:r>
              <a:rPr lang="en-US" sz="2800" b="1" i="0" u="none" strike="noStrike" dirty="0">
                <a:solidFill>
                  <a:srgbClr val="092241"/>
                </a:solidFill>
                <a:effectLst>
                  <a:outerShdw blurRad="38100" dist="38100" dir="2700000" algn="tl" rotWithShape="0">
                    <a:srgbClr val="000000">
                      <a:alpha val="43100"/>
                    </a:srgbClr>
                  </a:outerShdw>
                </a:effectLst>
                <a:latin typeface="Archivo Black"/>
                <a:ea typeface="Archivo Black"/>
                <a:cs typeface="Archivo Black"/>
                <a:sym typeface="Archivo Black"/>
              </a:rPr>
              <a:t>Teacher Control Center</a:t>
            </a:r>
            <a:endParaRPr lang="en-US" sz="1100" dirty="0"/>
          </a:p>
        </p:txBody>
      </p:sp>
      <p:sp>
        <p:nvSpPr>
          <p:cNvPr id="3" name="AutoShape 3"/>
          <p:cNvSpPr/>
          <p:nvPr/>
        </p:nvSpPr>
        <p:spPr>
          <a:xfrm rot="-5400000">
            <a:off x="-1282700" y="2794000"/>
            <a:ext cx="3683000" cy="635000"/>
          </a:xfrm>
          <a:prstGeom prst="roundRect">
            <a:avLst>
              <a:gd name="adj" fmla="val 20000"/>
            </a:avLst>
          </a:prstGeom>
          <a:solidFill>
            <a:srgbClr val="092241">
              <a:alpha val="100000"/>
            </a:srgbClr>
          </a:solidFill>
          <a:ln w="25400" cap="flat" cmpd="sng">
            <a:noFill/>
            <a:prstDash val="solid"/>
            <a:round/>
          </a:ln>
          <a:effectLst>
            <a:outerShdw blurRad="50800" dist="38100" dir="18900000" algn="bl" rotWithShape="0">
              <a:srgbClr val="000000">
                <a:alpha val="40000"/>
              </a:srgbClr>
            </a:outerShdw>
          </a:effectLst>
        </p:spPr>
        <p:txBody>
          <a:bodyPr vert="horz" wrap="square" lIns="0" tIns="0" rIns="0" bIns="0" rtlCol="0" anchor="ctr" anchorCtr="0"/>
          <a:lstStyle/>
          <a:p>
            <a:pPr marL="0" indent="0" algn="ctr">
              <a:lnSpc>
                <a:spcPct val="100000"/>
              </a:lnSpc>
              <a:defRPr/>
            </a:pPr>
            <a:r>
              <a:rPr lang="en-US" sz="2000" b="1" i="0" u="none" strike="noStrike">
                <a:solidFill>
                  <a:srgbClr val="FFFFFF"/>
                </a:solidFill>
                <a:latin typeface="Archivo Narrow"/>
                <a:ea typeface="Archivo Narrow"/>
                <a:cs typeface="Archivo Narrow"/>
                <a:sym typeface="Archivo Narrow"/>
              </a:rPr>
              <a:t>Core Functions</a:t>
            </a:r>
            <a:endParaRPr lang="en-US" sz="1100"/>
          </a:p>
        </p:txBody>
      </p:sp>
      <p:sp>
        <p:nvSpPr>
          <p:cNvPr id="4" name="AutoShape 4"/>
          <p:cNvSpPr/>
          <p:nvPr/>
        </p:nvSpPr>
        <p:spPr>
          <a:xfrm>
            <a:off x="1028700" y="1524000"/>
            <a:ext cx="1143000" cy="508000"/>
          </a:xfrm>
          <a:prstGeom prst="roundRect">
            <a:avLst>
              <a:gd name="adj" fmla="val 25000"/>
            </a:avLst>
          </a:prstGeom>
          <a:solidFill>
            <a:srgbClr val="6194E6">
              <a:alpha val="100000"/>
            </a:srgbClr>
          </a:solidFill>
          <a:ln w="25400" cap="flat" cmpd="sng">
            <a:noFill/>
            <a:prstDash val="solid"/>
            <a:round/>
          </a:ln>
          <a:effectLst>
            <a:outerShdw blurRad="50800" dist="38100" dir="2700000" algn="tl" rotWithShape="0">
              <a:srgbClr val="000000">
                <a:alpha val="40000"/>
              </a:srgbClr>
            </a:outerShdw>
          </a:effectLst>
        </p:spPr>
        <p:txBody>
          <a:bodyPr vert="horz" wrap="square" lIns="0" tIns="0" rIns="0" bIns="0" rtlCol="0" anchor="ctr" anchorCtr="0"/>
          <a:lstStyle/>
          <a:p>
            <a:pPr marL="0" indent="0" algn="ctr">
              <a:lnSpc>
                <a:spcPct val="91666"/>
              </a:lnSpc>
              <a:defRPr/>
            </a:pPr>
            <a:r>
              <a:rPr lang="en-US" sz="1400" b="1" i="0" u="none" strike="noStrike">
                <a:solidFill>
                  <a:srgbClr val="092241"/>
                </a:solidFill>
                <a:latin typeface="Archivo Narrow"/>
                <a:ea typeface="Archivo Narrow"/>
                <a:cs typeface="Archivo Narrow"/>
                <a:sym typeface="Archivo Narrow"/>
              </a:rPr>
              <a:t>Metrics</a:t>
            </a:r>
            <a:endParaRPr lang="en-US" sz="1100"/>
          </a:p>
        </p:txBody>
      </p:sp>
      <p:sp>
        <p:nvSpPr>
          <p:cNvPr id="5" name="AutoShape 5"/>
          <p:cNvSpPr/>
          <p:nvPr/>
        </p:nvSpPr>
        <p:spPr>
          <a:xfrm>
            <a:off x="1028700" y="2425700"/>
            <a:ext cx="1143000" cy="508000"/>
          </a:xfrm>
          <a:prstGeom prst="roundRect">
            <a:avLst>
              <a:gd name="adj" fmla="val 25000"/>
            </a:avLst>
          </a:prstGeom>
          <a:solidFill>
            <a:srgbClr val="6194E6">
              <a:alpha val="100000"/>
            </a:srgbClr>
          </a:solidFill>
          <a:ln w="25400" cap="flat" cmpd="sng">
            <a:noFill/>
            <a:prstDash val="solid"/>
            <a:round/>
          </a:ln>
          <a:effectLst>
            <a:outerShdw blurRad="50800" dist="38100" dir="2700000" algn="tl" rotWithShape="0">
              <a:srgbClr val="000000">
                <a:alpha val="40000"/>
              </a:srgbClr>
            </a:outerShdw>
          </a:effectLst>
        </p:spPr>
        <p:txBody>
          <a:bodyPr vert="horz" wrap="square" lIns="0" tIns="0" rIns="0" bIns="0" rtlCol="0" anchor="ctr" anchorCtr="0"/>
          <a:lstStyle/>
          <a:p>
            <a:pPr marL="0" indent="0" algn="ctr">
              <a:lnSpc>
                <a:spcPct val="91666"/>
              </a:lnSpc>
              <a:defRPr/>
            </a:pPr>
            <a:r>
              <a:rPr lang="en-US" sz="1300" b="1" i="0" u="none" strike="noStrike">
                <a:solidFill>
                  <a:srgbClr val="092241"/>
                </a:solidFill>
                <a:latin typeface="Archivo Narrow"/>
                <a:ea typeface="Archivo Narrow"/>
                <a:cs typeface="Archivo Narrow"/>
                <a:sym typeface="Archivo Narrow"/>
              </a:rPr>
              <a:t>Control</a:t>
            </a:r>
            <a:endParaRPr lang="en-US" sz="1100"/>
          </a:p>
        </p:txBody>
      </p:sp>
      <p:sp>
        <p:nvSpPr>
          <p:cNvPr id="6" name="AutoShape 6"/>
          <p:cNvSpPr/>
          <p:nvPr/>
        </p:nvSpPr>
        <p:spPr>
          <a:xfrm>
            <a:off x="1028700" y="3327400"/>
            <a:ext cx="1143000" cy="508000"/>
          </a:xfrm>
          <a:prstGeom prst="roundRect">
            <a:avLst>
              <a:gd name="adj" fmla="val 25000"/>
            </a:avLst>
          </a:prstGeom>
          <a:solidFill>
            <a:srgbClr val="6194E6">
              <a:alpha val="100000"/>
            </a:srgbClr>
          </a:solidFill>
          <a:ln w="25400" cap="flat" cmpd="sng">
            <a:noFill/>
            <a:prstDash val="solid"/>
            <a:round/>
          </a:ln>
          <a:effectLst>
            <a:outerShdw blurRad="50800" dist="38100" dir="2700000" algn="tl" rotWithShape="0">
              <a:srgbClr val="000000">
                <a:alpha val="40000"/>
              </a:srgbClr>
            </a:outerShdw>
          </a:effectLst>
        </p:spPr>
        <p:txBody>
          <a:bodyPr vert="horz" wrap="square" lIns="0" tIns="0" rIns="0" bIns="0" rtlCol="0" anchor="ctr" anchorCtr="0"/>
          <a:lstStyle/>
          <a:p>
            <a:pPr marL="0" indent="0" algn="ctr">
              <a:lnSpc>
                <a:spcPct val="91666"/>
              </a:lnSpc>
              <a:defRPr/>
            </a:pPr>
            <a:r>
              <a:rPr lang="en-US" sz="1400" b="1" i="0" u="none" strike="noStrike">
                <a:solidFill>
                  <a:srgbClr val="092241"/>
                </a:solidFill>
                <a:latin typeface="Archivo Narrow"/>
                <a:ea typeface="Archivo Narrow"/>
                <a:cs typeface="Archivo Narrow"/>
                <a:sym typeface="Archivo Narrow"/>
              </a:rPr>
              <a:t>Efficiency</a:t>
            </a:r>
            <a:endParaRPr lang="en-US" sz="1100"/>
          </a:p>
        </p:txBody>
      </p:sp>
      <p:sp>
        <p:nvSpPr>
          <p:cNvPr id="7" name="AutoShape 7"/>
          <p:cNvSpPr/>
          <p:nvPr/>
        </p:nvSpPr>
        <p:spPr>
          <a:xfrm>
            <a:off x="1016000" y="4229100"/>
            <a:ext cx="1143000" cy="508000"/>
          </a:xfrm>
          <a:prstGeom prst="roundRect">
            <a:avLst>
              <a:gd name="adj" fmla="val 25000"/>
            </a:avLst>
          </a:prstGeom>
          <a:solidFill>
            <a:srgbClr val="6194E6">
              <a:alpha val="100000"/>
            </a:srgbClr>
          </a:solidFill>
          <a:ln w="25400" cap="flat" cmpd="sng">
            <a:noFill/>
            <a:prstDash val="solid"/>
            <a:round/>
          </a:ln>
          <a:effectLst>
            <a:outerShdw blurRad="50800" dist="38100" dir="2700000" algn="tl" rotWithShape="0">
              <a:srgbClr val="000000">
                <a:alpha val="40000"/>
              </a:srgbClr>
            </a:outerShdw>
          </a:effectLst>
        </p:spPr>
        <p:txBody>
          <a:bodyPr vert="horz" wrap="square" lIns="0" tIns="0" rIns="0" bIns="0" rtlCol="0" anchor="ctr" anchorCtr="0"/>
          <a:lstStyle/>
          <a:p>
            <a:pPr marL="0" indent="0" algn="ctr">
              <a:lnSpc>
                <a:spcPct val="91666"/>
              </a:lnSpc>
              <a:defRPr/>
            </a:pPr>
            <a:r>
              <a:rPr lang="en-US" sz="1400" b="1" i="0" u="none" strike="noStrike">
                <a:solidFill>
                  <a:srgbClr val="092241"/>
                </a:solidFill>
                <a:latin typeface="Archivo Narrow"/>
                <a:ea typeface="Archivo Narrow"/>
                <a:cs typeface="Archivo Narrow"/>
                <a:sym typeface="Archivo Narrow"/>
              </a:rPr>
              <a:t>Overview</a:t>
            </a:r>
            <a:endParaRPr lang="en-US" sz="1100"/>
          </a:p>
        </p:txBody>
      </p:sp>
      <p:sp>
        <p:nvSpPr>
          <p:cNvPr id="8" name="AutoShape 8"/>
          <p:cNvSpPr/>
          <p:nvPr/>
        </p:nvSpPr>
        <p:spPr>
          <a:xfrm>
            <a:off x="2412999" y="1485900"/>
            <a:ext cx="4170681" cy="571500"/>
          </a:xfrm>
          <a:prstGeom prst="roundRect">
            <a:avLst>
              <a:gd name="adj" fmla="val 0"/>
            </a:avLst>
          </a:prstGeom>
          <a:noFill/>
          <a:ln w="25400" cap="flat" cmpd="sng">
            <a:noFill/>
            <a:prstDash val="solid"/>
            <a:round/>
          </a:ln>
        </p:spPr>
        <p:txBody>
          <a:bodyPr vert="horz" wrap="square" lIns="101600" tIns="101600" rIns="101600" bIns="101600" rtlCol="0" anchor="t" anchorCtr="0"/>
          <a:lstStyle/>
          <a:p>
            <a:pPr marL="0" indent="0" algn="l">
              <a:lnSpc>
                <a:spcPct val="116666"/>
              </a:lnSpc>
              <a:defRPr/>
            </a:pPr>
            <a:r>
              <a:rPr lang="en-US" sz="1200" b="0" i="0" u="none" strike="noStrike" dirty="0">
                <a:solidFill>
                  <a:srgbClr val="092241"/>
                </a:solidFill>
                <a:latin typeface="Manrope"/>
                <a:ea typeface="Manrope"/>
                <a:cs typeface="Manrope"/>
                <a:sym typeface="Manrope"/>
              </a:rPr>
              <a:t>A real-time dashboard showing key academic indicators: Total Courses available, Active Students count, Pending Requests queue, and recent Submissions overview.</a:t>
            </a:r>
            <a:endParaRPr lang="en-US" sz="1100" dirty="0"/>
          </a:p>
        </p:txBody>
      </p:sp>
      <p:sp>
        <p:nvSpPr>
          <p:cNvPr id="9" name="AutoShape 9"/>
          <p:cNvSpPr/>
          <p:nvPr/>
        </p:nvSpPr>
        <p:spPr>
          <a:xfrm>
            <a:off x="2463799" y="2362200"/>
            <a:ext cx="4548343" cy="596900"/>
          </a:xfrm>
          <a:prstGeom prst="roundRect">
            <a:avLst>
              <a:gd name="adj" fmla="val 0"/>
            </a:avLst>
          </a:prstGeom>
          <a:noFill/>
          <a:ln w="25400" cap="flat" cmpd="sng">
            <a:noFill/>
            <a:prstDash val="solid"/>
            <a:round/>
          </a:ln>
        </p:spPr>
        <p:txBody>
          <a:bodyPr vert="horz" wrap="square" lIns="101600" tIns="101600" rIns="101600" bIns="101600" rtlCol="0" anchor="t" anchorCtr="0"/>
          <a:lstStyle/>
          <a:p>
            <a:pPr marL="0" indent="0" algn="l">
              <a:lnSpc>
                <a:spcPct val="116666"/>
              </a:lnSpc>
              <a:defRPr/>
            </a:pPr>
            <a:r>
              <a:rPr lang="en-US" sz="1200" b="0" i="0" u="none" strike="noStrike" dirty="0">
                <a:solidFill>
                  <a:srgbClr val="092241"/>
                </a:solidFill>
                <a:latin typeface="Manrope"/>
                <a:ea typeface="Manrope"/>
                <a:cs typeface="Manrope"/>
                <a:sym typeface="Manrope"/>
              </a:rPr>
              <a:t>High-priority buttons enable teachers to instantly update assignments, modify student grades, and adjust course parameters without navigating complex menus.</a:t>
            </a:r>
            <a:endParaRPr lang="en-US" sz="1100" dirty="0"/>
          </a:p>
        </p:txBody>
      </p:sp>
      <p:sp>
        <p:nvSpPr>
          <p:cNvPr id="10" name="AutoShape 10"/>
          <p:cNvSpPr/>
          <p:nvPr/>
        </p:nvSpPr>
        <p:spPr>
          <a:xfrm>
            <a:off x="2425700" y="3263900"/>
            <a:ext cx="4105730" cy="508000"/>
          </a:xfrm>
          <a:prstGeom prst="roundRect">
            <a:avLst>
              <a:gd name="adj" fmla="val 0"/>
            </a:avLst>
          </a:prstGeom>
          <a:noFill/>
          <a:ln w="25400" cap="flat" cmpd="sng">
            <a:noFill/>
            <a:prstDash val="solid"/>
            <a:round/>
          </a:ln>
        </p:spPr>
        <p:txBody>
          <a:bodyPr vert="horz" wrap="square" lIns="101600" tIns="101600" rIns="101600" bIns="101600" rtlCol="0" anchor="t" anchorCtr="0"/>
          <a:lstStyle/>
          <a:p>
            <a:pPr marL="0" indent="0" algn="l">
              <a:lnSpc>
                <a:spcPct val="116666"/>
              </a:lnSpc>
              <a:defRPr/>
            </a:pPr>
            <a:r>
              <a:rPr lang="en-US" sz="1200" b="0" i="0" u="none" strike="noStrike" dirty="0">
                <a:solidFill>
                  <a:srgbClr val="092241"/>
                </a:solidFill>
                <a:latin typeface="Manrope"/>
                <a:ea typeface="Manrope"/>
                <a:cs typeface="Manrope"/>
                <a:sym typeface="Manrope"/>
              </a:rPr>
              <a:t>Optimized workflow design reduces administrative friction, allowing educators to complete tasks with minimal clicks and save valuable time.</a:t>
            </a:r>
            <a:endParaRPr lang="en-US" sz="1100" dirty="0"/>
          </a:p>
        </p:txBody>
      </p:sp>
      <p:sp>
        <p:nvSpPr>
          <p:cNvPr id="11" name="AutoShape 11"/>
          <p:cNvSpPr/>
          <p:nvPr/>
        </p:nvSpPr>
        <p:spPr>
          <a:xfrm>
            <a:off x="2413000" y="4152900"/>
            <a:ext cx="4118430" cy="736600"/>
          </a:xfrm>
          <a:prstGeom prst="roundRect">
            <a:avLst>
              <a:gd name="adj" fmla="val 0"/>
            </a:avLst>
          </a:prstGeom>
          <a:noFill/>
          <a:ln w="25400" cap="flat" cmpd="sng">
            <a:noFill/>
            <a:prstDash val="solid"/>
            <a:round/>
          </a:ln>
        </p:spPr>
        <p:txBody>
          <a:bodyPr vert="horz" wrap="square" lIns="101600" tIns="101600" rIns="101600" bIns="101600" rtlCol="0" anchor="t" anchorCtr="0"/>
          <a:lstStyle/>
          <a:p>
            <a:pPr marL="0" indent="0" algn="l">
              <a:lnSpc>
                <a:spcPct val="116666"/>
              </a:lnSpc>
              <a:defRPr/>
            </a:pPr>
            <a:r>
              <a:rPr lang="en-US" sz="1200" b="0" i="0" u="none" strike="noStrike" dirty="0">
                <a:solidFill>
                  <a:srgbClr val="092241"/>
                </a:solidFill>
                <a:latin typeface="Manrope"/>
                <a:ea typeface="Manrope"/>
                <a:cs typeface="Manrope"/>
                <a:sym typeface="Manrope"/>
              </a:rPr>
              <a:t>The Educator Administration Panel serves as a unified command center, consolidating all essential management tools for streamlined academic operations.</a:t>
            </a:r>
            <a:endParaRPr lang="en-US" sz="1100" dirty="0"/>
          </a:p>
        </p:txBody>
      </p:sp>
      <p:cxnSp>
        <p:nvCxnSpPr>
          <p:cNvPr id="12" name="Connector 12"/>
          <p:cNvCxnSpPr/>
          <p:nvPr/>
        </p:nvCxnSpPr>
        <p:spPr>
          <a:xfrm rot="-132155">
            <a:off x="2159122" y="1784350"/>
            <a:ext cx="330200" cy="12700"/>
          </a:xfrm>
          <a:prstGeom prst="straightConnector1">
            <a:avLst/>
          </a:prstGeom>
          <a:solidFill>
            <a:srgbClr val="DEE0E3">
              <a:alpha val="100000"/>
            </a:srgbClr>
          </a:solidFill>
          <a:ln w="25400" cap="flat" cmpd="sng">
            <a:solidFill>
              <a:srgbClr val="6194E6">
                <a:alpha val="100000"/>
              </a:srgbClr>
            </a:solidFill>
            <a:prstDash val="solid"/>
            <a:round/>
            <a:headEnd type="none" w="lg" len="lg"/>
            <a:tailEnd type="arrow" w="sm" len="sm"/>
          </a:ln>
        </p:spPr>
      </p:cxnSp>
      <p:cxnSp>
        <p:nvCxnSpPr>
          <p:cNvPr id="13" name="Connector 13"/>
          <p:cNvCxnSpPr/>
          <p:nvPr/>
        </p:nvCxnSpPr>
        <p:spPr>
          <a:xfrm rot="-132155">
            <a:off x="2171822" y="2686050"/>
            <a:ext cx="330200" cy="12700"/>
          </a:xfrm>
          <a:prstGeom prst="straightConnector1">
            <a:avLst/>
          </a:prstGeom>
          <a:solidFill>
            <a:srgbClr val="DEE0E3">
              <a:alpha val="100000"/>
            </a:srgbClr>
          </a:solidFill>
          <a:ln w="25400" cap="flat" cmpd="sng">
            <a:solidFill>
              <a:srgbClr val="6194E6">
                <a:alpha val="100000"/>
              </a:srgbClr>
            </a:solidFill>
            <a:prstDash val="solid"/>
            <a:round/>
            <a:headEnd type="none" w="lg" len="lg"/>
            <a:tailEnd type="arrow" w="sm" len="sm"/>
          </a:ln>
        </p:spPr>
      </p:cxnSp>
      <p:cxnSp>
        <p:nvCxnSpPr>
          <p:cNvPr id="14" name="Connector 14"/>
          <p:cNvCxnSpPr/>
          <p:nvPr/>
        </p:nvCxnSpPr>
        <p:spPr>
          <a:xfrm rot="-132155">
            <a:off x="2146422" y="3575050"/>
            <a:ext cx="330200" cy="12700"/>
          </a:xfrm>
          <a:prstGeom prst="straightConnector1">
            <a:avLst/>
          </a:prstGeom>
          <a:solidFill>
            <a:srgbClr val="DEE0E3">
              <a:alpha val="100000"/>
            </a:srgbClr>
          </a:solidFill>
          <a:ln w="25400" cap="flat" cmpd="sng">
            <a:solidFill>
              <a:srgbClr val="6194E6">
                <a:alpha val="100000"/>
              </a:srgbClr>
            </a:solidFill>
            <a:prstDash val="solid"/>
            <a:round/>
            <a:headEnd type="none" w="lg" len="lg"/>
            <a:tailEnd type="arrow" w="sm" len="sm"/>
          </a:ln>
        </p:spPr>
      </p:cxnSp>
      <p:cxnSp>
        <p:nvCxnSpPr>
          <p:cNvPr id="15" name="Connector 15"/>
          <p:cNvCxnSpPr/>
          <p:nvPr/>
        </p:nvCxnSpPr>
        <p:spPr>
          <a:xfrm rot="-132155">
            <a:off x="2159122" y="4476750"/>
            <a:ext cx="330200" cy="12700"/>
          </a:xfrm>
          <a:prstGeom prst="straightConnector1">
            <a:avLst/>
          </a:prstGeom>
          <a:solidFill>
            <a:srgbClr val="DEE0E3">
              <a:alpha val="100000"/>
            </a:srgbClr>
          </a:solidFill>
          <a:ln w="25400" cap="flat" cmpd="sng">
            <a:solidFill>
              <a:srgbClr val="6194E6">
                <a:alpha val="100000"/>
              </a:srgbClr>
            </a:solidFill>
            <a:prstDash val="solid"/>
            <a:round/>
            <a:headEnd type="none" w="lg" len="lg"/>
            <a:tailEnd type="arrow" w="sm" len="sm"/>
          </a:ln>
        </p:spPr>
      </p:cxnSp>
      <p:pic>
        <p:nvPicPr>
          <p:cNvPr id="17" name="Picture 1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998463" y="2741579"/>
            <a:ext cx="3252951" cy="2401921"/>
          </a:xfrm>
          <a:prstGeom prst="rect">
            <a:avLst/>
          </a:prstGeom>
        </p:spPr>
      </p:pic>
      <p:pic>
        <p:nvPicPr>
          <p:cNvPr id="18" name="Picture 17"/>
          <p:cNvPicPr>
            <a:picLocks noChangeAspect="1"/>
          </p:cNvPicPr>
          <p:nvPr/>
        </p:nvPicPr>
        <p:blipFill>
          <a:blip r:embed="rId4"/>
          <a:stretch>
            <a:fillRect/>
          </a:stretch>
        </p:blipFill>
        <p:spPr>
          <a:xfrm>
            <a:off x="2463799" y="392524"/>
            <a:ext cx="631551" cy="631551"/>
          </a:xfrm>
          <a:prstGeom prst="rect">
            <a:avLst/>
          </a:prstGeom>
        </p:spPr>
      </p:pic>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8F8F8">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1883809" y="62375"/>
            <a:ext cx="5016500" cy="12700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ctr">
              <a:lnSpc>
                <a:spcPct val="91666"/>
              </a:lnSpc>
              <a:defRPr/>
            </a:pPr>
            <a:r>
              <a:rPr lang="en-US" sz="3600" b="1" i="0" u="none" strike="noStrike" dirty="0">
                <a:solidFill>
                  <a:srgbClr val="092241"/>
                </a:solidFill>
                <a:latin typeface="Archivo Black"/>
                <a:ea typeface="Archivo Black"/>
                <a:cs typeface="Archivo Black"/>
                <a:sym typeface="Archivo Black"/>
              </a:rPr>
              <a:t>Asynchronous</a:t>
            </a:r>
            <a:br>
              <a:rPr lang="en-US" sz="3600" b="1" i="0" u="none" strike="noStrike" dirty="0">
                <a:solidFill>
                  <a:srgbClr val="092241"/>
                </a:solidFill>
                <a:latin typeface="Archivo Black"/>
                <a:ea typeface="Archivo Black"/>
                <a:cs typeface="Archivo Black"/>
                <a:sym typeface="Archivo Black"/>
              </a:rPr>
            </a:br>
            <a:r>
              <a:rPr lang="en-US" sz="3600" b="1" i="0" u="none" strike="noStrike" dirty="0">
                <a:solidFill>
                  <a:srgbClr val="092241"/>
                </a:solidFill>
                <a:latin typeface="Archivo Black"/>
                <a:ea typeface="Archivo Black"/>
                <a:cs typeface="Archivo Black"/>
                <a:sym typeface="Archivo Black"/>
              </a:rPr>
              <a:t>Communication Hub</a:t>
            </a:r>
            <a:endParaRPr lang="en-US" sz="1100" dirty="0"/>
          </a:p>
        </p:txBody>
      </p:sp>
      <p:pic>
        <p:nvPicPr>
          <p:cNvPr id="3" name="Picture 3"/>
          <p:cNvPicPr>
            <a:picLocks noChangeAspect="1"/>
          </p:cNvPicPr>
          <p:nvPr/>
        </p:nvPicPr>
        <p:blipFill>
          <a:blip r:embed="rId3"/>
          <a:srcRect/>
          <a:stretch>
            <a:fillRect/>
          </a:stretch>
        </p:blipFill>
        <p:spPr>
          <a:xfrm>
            <a:off x="6036926" y="62375"/>
            <a:ext cx="723900" cy="723900"/>
          </a:xfrm>
          <a:prstGeom prst="rect">
            <a:avLst/>
          </a:prstGeom>
          <a:noFill/>
          <a:ln w="25400" cap="flat" cmpd="sng">
            <a:noFill/>
            <a:prstDash val="solid"/>
            <a:round/>
          </a:ln>
        </p:spPr>
      </p:pic>
      <p:sp>
        <p:nvSpPr>
          <p:cNvPr id="4" name="AutoShape 4"/>
          <p:cNvSpPr/>
          <p:nvPr/>
        </p:nvSpPr>
        <p:spPr>
          <a:xfrm>
            <a:off x="1883809" y="1224425"/>
            <a:ext cx="5524500" cy="381000"/>
          </a:xfrm>
          <a:prstGeom prst="roundRect">
            <a:avLst>
              <a:gd name="adj" fmla="val 0"/>
            </a:avLst>
          </a:prstGeom>
          <a:noFill/>
          <a:ln w="25400" cap="flat" cmpd="sng">
            <a:noFill/>
            <a:prstDash val="solid"/>
            <a:round/>
          </a:ln>
        </p:spPr>
        <p:txBody>
          <a:bodyPr vert="horz" wrap="square" lIns="0" tIns="0" rIns="0" bIns="0" rtlCol="0" anchor="t" anchorCtr="0"/>
          <a:lstStyle/>
          <a:p>
            <a:pPr marL="0" indent="0" algn="l">
              <a:lnSpc>
                <a:spcPct val="108333"/>
              </a:lnSpc>
              <a:defRPr/>
            </a:pPr>
            <a:r>
              <a:rPr lang="en-US" sz="1800" b="1" i="0" u="none" strike="noStrike" dirty="0">
                <a:solidFill>
                  <a:srgbClr val="6194E6"/>
                </a:solidFill>
                <a:latin typeface="Manrope"/>
                <a:ea typeface="Manrope"/>
                <a:cs typeface="Manrope"/>
                <a:sym typeface="Manrope"/>
              </a:rPr>
              <a:t>Real-Time Messaging &amp; Dynamic UI Experience</a:t>
            </a:r>
            <a:endParaRPr lang="en-US" sz="1100" dirty="0"/>
          </a:p>
        </p:txBody>
      </p:sp>
      <p:sp>
        <p:nvSpPr>
          <p:cNvPr id="6" name="AutoShape 6"/>
          <p:cNvSpPr/>
          <p:nvPr/>
        </p:nvSpPr>
        <p:spPr>
          <a:xfrm>
            <a:off x="4796681" y="1943100"/>
            <a:ext cx="4281569" cy="2794000"/>
          </a:xfrm>
          <a:prstGeom prst="roundRect">
            <a:avLst>
              <a:gd name="adj" fmla="val 0"/>
            </a:avLst>
          </a:prstGeom>
          <a:noFill/>
          <a:ln w="25400" cap="flat" cmpd="sng">
            <a:noFill/>
            <a:prstDash val="solid"/>
            <a:round/>
          </a:ln>
        </p:spPr>
        <p:txBody>
          <a:bodyPr vert="horz" wrap="square" lIns="0" tIns="0" rIns="0" bIns="0" rtlCol="0" anchor="t" anchorCtr="0"/>
          <a:lstStyle/>
          <a:p>
            <a:pPr marL="0" indent="0" algn="just">
              <a:lnSpc>
                <a:spcPct val="116666"/>
              </a:lnSpc>
              <a:defRPr/>
            </a:pPr>
            <a:r>
              <a:rPr lang="en-US" sz="1400" b="0" i="0" u="none" strike="noStrike" dirty="0">
                <a:solidFill>
                  <a:srgbClr val="3C3C3C"/>
                </a:solidFill>
                <a:latin typeface="Manrope"/>
                <a:ea typeface="Manrope"/>
                <a:cs typeface="Manrope"/>
                <a:sym typeface="Manrope"/>
              </a:rPr>
              <a:t>The platform integrates an Asynchronous Engine that powers real-time message distribution, providing immediate feedback to users without full-page document refreshes for a fluid interaction. The UI employs a purposeful contrast design: royal blue styling for outbound user text bubbles and clean white backgrounds for incoming text logs. This visual distinction sharpens readability, reduces cognitive load, and creates an intuitive conversation flow that elevates the overall user experience within the communication hub.</a:t>
            </a:r>
            <a:endParaRPr lang="en-US" sz="1100" dirty="0"/>
          </a:p>
        </p:txBody>
      </p:sp>
      <p:pic>
        <p:nvPicPr>
          <p:cNvPr id="7" name="Picture 6"/>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6576" y="1943100"/>
            <a:ext cx="4650377" cy="2794000"/>
          </a:xfrm>
          <a:prstGeom prst="rect">
            <a:avLst/>
          </a:prstGeom>
        </p:spPr>
      </p:pic>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8F8F8">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0" y="12700"/>
            <a:ext cx="3810000" cy="5080000"/>
          </a:xfrm>
          <a:prstGeom prst="rtTriangle">
            <a:avLst/>
          </a:prstGeom>
          <a:solidFill>
            <a:srgbClr val="092241">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970933" y="116460"/>
            <a:ext cx="8382000" cy="1019882"/>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defRPr/>
            </a:pPr>
            <a:r>
              <a:rPr lang="en-US" sz="4200" b="1" i="0" u="none" strike="noStrike" dirty="0">
                <a:solidFill>
                  <a:srgbClr val="092241"/>
                </a:solidFill>
                <a:latin typeface="Archivo Black"/>
                <a:ea typeface="Archivo Black"/>
                <a:cs typeface="Archivo Black"/>
                <a:sym typeface="Archivo Black"/>
              </a:rPr>
              <a:t>Centralized Governance Infrastructure</a:t>
            </a:r>
            <a:endParaRPr lang="en-US" sz="1100" dirty="0"/>
          </a:p>
        </p:txBody>
      </p:sp>
      <p:sp>
        <p:nvSpPr>
          <p:cNvPr id="4" name="AutoShape 4"/>
          <p:cNvSpPr/>
          <p:nvPr/>
        </p:nvSpPr>
        <p:spPr>
          <a:xfrm>
            <a:off x="4597400" y="774700"/>
            <a:ext cx="6203261" cy="4318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25000"/>
              </a:lnSpc>
              <a:defRPr/>
            </a:pPr>
            <a:r>
              <a:rPr lang="en-US" sz="1800" b="0" i="0" u="none" strike="noStrike" dirty="0">
                <a:solidFill>
                  <a:srgbClr val="6194E6"/>
                </a:solidFill>
                <a:latin typeface="Archivo Narrow"/>
                <a:ea typeface="Archivo Narrow"/>
                <a:cs typeface="Archivo Narrow"/>
                <a:sym typeface="Archivo Narrow"/>
              </a:rPr>
              <a:t>Global Systems Administration</a:t>
            </a:r>
            <a:endParaRPr lang="en-US" sz="1100" dirty="0"/>
          </a:p>
        </p:txBody>
      </p:sp>
      <p:pic>
        <p:nvPicPr>
          <p:cNvPr id="5" name="Picture 5"/>
          <p:cNvPicPr>
            <a:picLocks noChangeAspect="1"/>
          </p:cNvPicPr>
          <p:nvPr/>
        </p:nvPicPr>
        <p:blipFill>
          <a:blip r:embed="rId3"/>
          <a:srcRect t="9036" b="9036"/>
          <a:stretch>
            <a:fillRect/>
          </a:stretch>
        </p:blipFill>
        <p:spPr>
          <a:xfrm>
            <a:off x="120650" y="1234921"/>
            <a:ext cx="4038600" cy="2095500"/>
          </a:xfrm>
          <a:prstGeom prst="rect">
            <a:avLst/>
          </a:prstGeom>
          <a:noFill/>
          <a:ln w="25400" cap="flat" cmpd="sng">
            <a:noFill/>
            <a:prstDash val="solid"/>
            <a:round/>
          </a:ln>
        </p:spPr>
      </p:pic>
      <p:sp>
        <p:nvSpPr>
          <p:cNvPr id="6" name="AutoShape 6"/>
          <p:cNvSpPr/>
          <p:nvPr/>
        </p:nvSpPr>
        <p:spPr>
          <a:xfrm>
            <a:off x="25400" y="3243313"/>
            <a:ext cx="4038600" cy="1905000"/>
          </a:xfrm>
          <a:prstGeom prst="roundRect">
            <a:avLst>
              <a:gd name="adj" fmla="val 0"/>
            </a:avLst>
          </a:prstGeom>
          <a:solidFill>
            <a:srgbClr val="092241"/>
          </a:solidFill>
          <a:ln w="25400" cap="flat" cmpd="sng">
            <a:noFill/>
            <a:prstDash val="solid"/>
            <a:round/>
          </a:ln>
        </p:spPr>
        <p:txBody>
          <a:bodyPr vert="horz" wrap="square" lIns="63500" tIns="63500" rIns="63500" bIns="63500" rtlCol="0" anchor="ctr"/>
          <a:lstStyle/>
          <a:p>
            <a:pPr algn="ctr">
              <a:defRPr/>
            </a:pPr>
            <a:endParaRPr/>
          </a:p>
        </p:txBody>
      </p:sp>
      <p:sp>
        <p:nvSpPr>
          <p:cNvPr id="7" name="AutoShape 7"/>
          <p:cNvSpPr/>
          <p:nvPr/>
        </p:nvSpPr>
        <p:spPr>
          <a:xfrm>
            <a:off x="114300" y="3344913"/>
            <a:ext cx="3873500" cy="17145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16666"/>
              </a:lnSpc>
              <a:defRPr/>
            </a:pPr>
            <a:r>
              <a:rPr lang="en-US" sz="1200" b="0" i="0" u="none" strike="noStrike" dirty="0">
                <a:solidFill>
                  <a:schemeClr val="tx2"/>
                </a:solidFill>
                <a:latin typeface="Arial"/>
                <a:ea typeface="Arial"/>
                <a:cs typeface="Arial"/>
                <a:sym typeface="Arial"/>
              </a:rPr>
              <a:t>Admin Dashboard serves as the nerve center for global oversight. It delivers a real-time bird's-eye view of the entire platform, including live health checks for critical services like the database and </a:t>
            </a:r>
            <a:r>
              <a:rPr lang="en-US" sz="1200" b="0" i="0" u="none" strike="noStrike" dirty="0" smtClean="0">
                <a:solidFill>
                  <a:schemeClr val="tx2"/>
                </a:solidFill>
                <a:latin typeface="Arial"/>
                <a:ea typeface="Arial"/>
                <a:cs typeface="Arial"/>
                <a:sym typeface="Arial"/>
              </a:rPr>
              <a:t>Web Socket</a:t>
            </a:r>
            <a:r>
              <a:rPr lang="en-US" sz="1200" b="0" i="0" u="none" strike="noStrike" dirty="0" smtClean="0">
                <a:solidFill>
                  <a:schemeClr val="tx2"/>
                </a:solidFill>
                <a:sym typeface="Arial"/>
              </a:rPr>
              <a:t> </a:t>
            </a:r>
            <a:r>
              <a:rPr lang="en-US" sz="1200" b="0" i="0" u="none" strike="noStrike" dirty="0">
                <a:solidFill>
                  <a:schemeClr val="tx2"/>
                </a:solidFill>
                <a:sym typeface="Arial"/>
              </a:rPr>
              <a:t>server. This unified interface enables swift execution of administrative tasks, ensuring continuous platform stability and security.</a:t>
            </a:r>
            <a:endParaRPr lang="en-US" sz="1100" dirty="0">
              <a:solidFill>
                <a:schemeClr val="tx2"/>
              </a:solidFill>
            </a:endParaRPr>
          </a:p>
        </p:txBody>
      </p:sp>
      <p:sp>
        <p:nvSpPr>
          <p:cNvPr id="8" name="AutoShape 8"/>
          <p:cNvSpPr/>
          <p:nvPr/>
        </p:nvSpPr>
        <p:spPr>
          <a:xfrm>
            <a:off x="4305735" y="1231707"/>
            <a:ext cx="4432300" cy="1841500"/>
          </a:xfrm>
          <a:prstGeom prst="roundRect">
            <a:avLst>
              <a:gd name="adj" fmla="val 0"/>
            </a:avLst>
          </a:prstGeom>
          <a:solidFill>
            <a:srgbClr val="6194E6">
              <a:alpha val="18000"/>
            </a:srgbClr>
          </a:solidFill>
          <a:ln w="25400" cap="flat" cmpd="sng">
            <a:noFill/>
            <a:prstDash val="solid"/>
            <a:round/>
          </a:ln>
        </p:spPr>
        <p:txBody>
          <a:bodyPr vert="horz" wrap="square" lIns="63500" tIns="63500" rIns="63500" bIns="63500" rtlCol="0" anchor="ctr"/>
          <a:lstStyle/>
          <a:p>
            <a:pPr algn="ctr">
              <a:defRPr/>
            </a:pPr>
            <a:endParaRPr/>
          </a:p>
        </p:txBody>
      </p:sp>
      <p:sp>
        <p:nvSpPr>
          <p:cNvPr id="12" name="AutoShape 12"/>
          <p:cNvSpPr/>
          <p:nvPr/>
        </p:nvSpPr>
        <p:spPr>
          <a:xfrm>
            <a:off x="4978400" y="1314774"/>
            <a:ext cx="4064000" cy="3810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25000"/>
              </a:lnSpc>
              <a:defRPr/>
            </a:pPr>
            <a:r>
              <a:rPr lang="en-US" sz="1600" b="0" i="0" u="none" strike="noStrike" dirty="0">
                <a:solidFill>
                  <a:srgbClr val="092241"/>
                </a:solidFill>
                <a:latin typeface="Archivo Black"/>
                <a:ea typeface="Archivo Black"/>
                <a:cs typeface="Archivo Black"/>
                <a:sym typeface="Archivo Black"/>
              </a:rPr>
              <a:t>Auditing</a:t>
            </a:r>
            <a:endParaRPr lang="en-US" sz="1100" dirty="0"/>
          </a:p>
        </p:txBody>
      </p:sp>
      <p:sp>
        <p:nvSpPr>
          <p:cNvPr id="13" name="AutoShape 13"/>
          <p:cNvSpPr/>
          <p:nvPr/>
        </p:nvSpPr>
        <p:spPr>
          <a:xfrm>
            <a:off x="4533900" y="1792368"/>
            <a:ext cx="4178300" cy="10795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08333"/>
              </a:lnSpc>
              <a:defRPr/>
            </a:pPr>
            <a:r>
              <a:rPr lang="en-US" sz="1200" b="0" i="0" u="none" strike="noStrike" dirty="0">
                <a:solidFill>
                  <a:srgbClr val="3C3C3C"/>
                </a:solidFill>
                <a:latin typeface="Arial"/>
                <a:ea typeface="Arial"/>
                <a:cs typeface="Arial"/>
                <a:sym typeface="Arial"/>
              </a:rPr>
              <a:t>Global system analytics console that monitors performance speeds, verifies database update integrity, and maintains active security logs. This continuous auditing layer ensures operational transparency and enables proactive detection of anomalies to safeguard system reliability.</a:t>
            </a:r>
            <a:endParaRPr lang="en-US" sz="1100" dirty="0"/>
          </a:p>
        </p:txBody>
      </p:sp>
      <p:sp>
        <p:nvSpPr>
          <p:cNvPr id="14" name="AutoShape 14"/>
          <p:cNvSpPr/>
          <p:nvPr/>
        </p:nvSpPr>
        <p:spPr>
          <a:xfrm>
            <a:off x="4305735" y="3149407"/>
            <a:ext cx="4432300" cy="1841500"/>
          </a:xfrm>
          <a:prstGeom prst="roundRect">
            <a:avLst>
              <a:gd name="adj" fmla="val 0"/>
            </a:avLst>
          </a:prstGeom>
          <a:solidFill>
            <a:srgbClr val="6194E6">
              <a:alpha val="18000"/>
            </a:srgbClr>
          </a:solidFill>
          <a:ln w="25400" cap="flat" cmpd="sng">
            <a:noFill/>
            <a:prstDash val="solid"/>
            <a:round/>
          </a:ln>
        </p:spPr>
        <p:txBody>
          <a:bodyPr vert="horz" wrap="square" lIns="63500" tIns="63500" rIns="63500" bIns="63500" rtlCol="0" anchor="ctr"/>
          <a:lstStyle/>
          <a:p>
            <a:pPr algn="ctr">
              <a:defRPr/>
            </a:pPr>
            <a:endParaRPr/>
          </a:p>
        </p:txBody>
      </p:sp>
      <p:sp>
        <p:nvSpPr>
          <p:cNvPr id="18" name="AutoShape 18"/>
          <p:cNvSpPr/>
          <p:nvPr/>
        </p:nvSpPr>
        <p:spPr>
          <a:xfrm>
            <a:off x="5042626" y="3339776"/>
            <a:ext cx="4064000" cy="3810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25000"/>
              </a:lnSpc>
              <a:defRPr/>
            </a:pPr>
            <a:r>
              <a:rPr lang="en-US" sz="1600" b="0" i="0" u="none" strike="noStrike" dirty="0">
                <a:solidFill>
                  <a:srgbClr val="092241"/>
                </a:solidFill>
                <a:latin typeface="Archivo Black"/>
                <a:ea typeface="Archivo Black"/>
                <a:cs typeface="Archivo Black"/>
                <a:sym typeface="Archivo Black"/>
              </a:rPr>
              <a:t>Visibility</a:t>
            </a:r>
            <a:endParaRPr lang="en-US" sz="1100" dirty="0"/>
          </a:p>
        </p:txBody>
      </p:sp>
      <p:sp>
        <p:nvSpPr>
          <p:cNvPr id="19" name="AutoShape 19"/>
          <p:cNvSpPr/>
          <p:nvPr/>
        </p:nvSpPr>
        <p:spPr>
          <a:xfrm>
            <a:off x="4559735" y="3763648"/>
            <a:ext cx="4178300" cy="10795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08333"/>
              </a:lnSpc>
              <a:defRPr/>
            </a:pPr>
            <a:r>
              <a:rPr lang="en-US" sz="1200" b="0" i="0" u="none" strike="noStrike" dirty="0">
                <a:solidFill>
                  <a:srgbClr val="3C3C3C"/>
                </a:solidFill>
                <a:latin typeface="Arial"/>
                <a:ea typeface="Arial"/>
                <a:cs typeface="Arial"/>
                <a:sym typeface="Arial"/>
              </a:rPr>
              <a:t>Top-level statistical cards summarizing cross-entity application activities at a single glance. Key metrics like user growth, service uptime, and system load are visualized intuitively, empowering administrators to make informed, data-driven decisions without deep-diving into raw logs.</a:t>
            </a:r>
            <a:endParaRPr lang="en-US" sz="1100" dirty="0"/>
          </a:p>
        </p:txBody>
      </p:sp>
      <p:pic>
        <p:nvPicPr>
          <p:cNvPr id="21" name="Picture 20"/>
          <p:cNvPicPr>
            <a:picLocks noChangeAspect="1"/>
          </p:cNvPicPr>
          <p:nvPr/>
        </p:nvPicPr>
        <p:blipFill>
          <a:blip r:embed="rId4"/>
          <a:stretch>
            <a:fillRect/>
          </a:stretch>
        </p:blipFill>
        <p:spPr>
          <a:xfrm>
            <a:off x="4520765" y="1315556"/>
            <a:ext cx="396712" cy="396712"/>
          </a:xfrm>
          <a:prstGeom prst="rect">
            <a:avLst/>
          </a:prstGeom>
        </p:spPr>
      </p:pic>
      <p:pic>
        <p:nvPicPr>
          <p:cNvPr id="22" name="Picture 21"/>
          <p:cNvPicPr>
            <a:picLocks noChangeAspect="1"/>
          </p:cNvPicPr>
          <p:nvPr/>
        </p:nvPicPr>
        <p:blipFill>
          <a:blip r:embed="rId5"/>
          <a:stretch>
            <a:fillRect/>
          </a:stretch>
        </p:blipFill>
        <p:spPr>
          <a:xfrm>
            <a:off x="4533900" y="3358836"/>
            <a:ext cx="404812" cy="404812"/>
          </a:xfrm>
          <a:prstGeom prst="rect">
            <a:avLst/>
          </a:prstGeom>
        </p:spPr>
      </p:pic>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0" y="0"/>
            <a:ext cx="9144000" cy="673100"/>
          </a:xfrm>
          <a:prstGeom prst="roundRect">
            <a:avLst>
              <a:gd name="adj" fmla="val 0"/>
            </a:avLst>
          </a:prstGeom>
          <a:solidFill>
            <a:srgbClr val="003366">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419100" y="88900"/>
            <a:ext cx="8293100" cy="4318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ctr">
              <a:lnSpc>
                <a:spcPct val="125000"/>
              </a:lnSpc>
              <a:defRPr/>
            </a:pPr>
            <a:r>
              <a:rPr lang="en-US" sz="3200" b="1" i="0" u="none" strike="noStrike">
                <a:solidFill>
                  <a:srgbClr val="FFFFFF"/>
                </a:solidFill>
                <a:latin typeface="Arial"/>
                <a:ea typeface="Arial"/>
                <a:cs typeface="Arial"/>
                <a:sym typeface="Arial"/>
              </a:rPr>
              <a:t>Database Management</a:t>
            </a:r>
            <a:r>
              <a:rPr lang="en-US" sz="3200" b="1" i="0" u="none" strike="noStrike">
                <a:solidFill>
                  <a:srgbClr val="FFFFFF"/>
                </a:solidFill>
                <a:effectLst>
                  <a:outerShdw blurRad="38100" dist="38100" dir="2700000" algn="tl" rotWithShape="0">
                    <a:srgbClr val="000000">
                      <a:alpha val="43100"/>
                    </a:srgbClr>
                  </a:outerShdw>
                </a:effectLst>
                <a:latin typeface="Arial"/>
                <a:ea typeface="Arial"/>
                <a:cs typeface="Arial"/>
                <a:sym typeface="Arial"/>
              </a:rPr>
              <a:t>Portal</a:t>
            </a:r>
            <a:endParaRPr lang="en-US" sz="1100"/>
          </a:p>
        </p:txBody>
      </p:sp>
      <p:sp>
        <p:nvSpPr>
          <p:cNvPr id="4" name="AutoShape 4"/>
          <p:cNvSpPr/>
          <p:nvPr/>
        </p:nvSpPr>
        <p:spPr>
          <a:xfrm>
            <a:off x="0" y="698500"/>
            <a:ext cx="9144000" cy="508000"/>
          </a:xfrm>
          <a:prstGeom prst="roundRect">
            <a:avLst>
              <a:gd name="adj" fmla="val 0"/>
            </a:avLst>
          </a:prstGeom>
          <a:solidFill>
            <a:srgbClr val="EBF5FF">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5" name="AutoShape 5"/>
          <p:cNvSpPr/>
          <p:nvPr/>
        </p:nvSpPr>
        <p:spPr>
          <a:xfrm>
            <a:off x="317500" y="698500"/>
            <a:ext cx="8826500" cy="4445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003366"/>
                </a:solidFill>
                <a:latin typeface="Noto Sans SC"/>
                <a:ea typeface="Noto Sans SC"/>
                <a:cs typeface="Noto Sans SC"/>
                <a:sym typeface="Noto Sans SC"/>
              </a:rPr>
              <a:t>Relational User Registries</a:t>
            </a:r>
            <a:endParaRPr lang="en-US" sz="1100"/>
          </a:p>
        </p:txBody>
      </p:sp>
      <p:pic>
        <p:nvPicPr>
          <p:cNvPr id="6" name="Picture 6"/>
          <p:cNvPicPr>
            <a:picLocks noChangeAspect="1"/>
          </p:cNvPicPr>
          <p:nvPr/>
        </p:nvPicPr>
        <p:blipFill>
          <a:blip r:embed="rId3"/>
          <a:srcRect l="670" r="670"/>
          <a:stretch>
            <a:fillRect/>
          </a:stretch>
        </p:blipFill>
        <p:spPr>
          <a:xfrm>
            <a:off x="0" y="1104900"/>
            <a:ext cx="3937000" cy="2527300"/>
          </a:xfrm>
          <a:prstGeom prst="rect">
            <a:avLst/>
          </a:prstGeom>
          <a:noFill/>
          <a:ln w="25400" cap="flat" cmpd="sng">
            <a:noFill/>
            <a:prstDash val="solid"/>
            <a:round/>
          </a:ln>
        </p:spPr>
      </p:pic>
      <p:sp>
        <p:nvSpPr>
          <p:cNvPr id="7" name="AutoShape 7"/>
          <p:cNvSpPr/>
          <p:nvPr/>
        </p:nvSpPr>
        <p:spPr>
          <a:xfrm>
            <a:off x="3937000" y="673100"/>
            <a:ext cx="5207000" cy="2921000"/>
          </a:xfrm>
          <a:prstGeom prst="roundRect">
            <a:avLst>
              <a:gd name="adj" fmla="val 0"/>
            </a:avLst>
          </a:prstGeom>
          <a:solidFill>
            <a:srgbClr val="F0F8FF">
              <a:alpha val="100000"/>
            </a:srgbClr>
          </a:solidFill>
          <a:ln w="12700" cap="flat" cmpd="sng">
            <a:solidFill>
              <a:srgbClr val="6495ED">
                <a:alpha val="100000"/>
              </a:srgbClr>
            </a:solidFill>
            <a:prstDash val="solid"/>
            <a:round/>
          </a:ln>
        </p:spPr>
        <p:txBody>
          <a:bodyPr vert="horz" wrap="square" lIns="63500" tIns="63500" rIns="63500" bIns="63500" rtlCol="0" anchor="ctr"/>
          <a:lstStyle/>
          <a:p>
            <a:pPr algn="ctr">
              <a:defRPr/>
            </a:pPr>
            <a:endParaRPr/>
          </a:p>
        </p:txBody>
      </p:sp>
      <p:sp>
        <p:nvSpPr>
          <p:cNvPr id="8" name="AutoShape 8"/>
          <p:cNvSpPr/>
          <p:nvPr/>
        </p:nvSpPr>
        <p:spPr>
          <a:xfrm>
            <a:off x="4673600" y="800100"/>
            <a:ext cx="4216400" cy="3810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003366"/>
                </a:solidFill>
                <a:latin typeface="Noto Sans SC"/>
                <a:ea typeface="Noto Sans SC"/>
                <a:cs typeface="Noto Sans SC"/>
                <a:sym typeface="Noto Sans SC"/>
              </a:rPr>
              <a:t>User Registry Functional Overview</a:t>
            </a:r>
            <a:endParaRPr lang="en-US" sz="1100"/>
          </a:p>
        </p:txBody>
      </p:sp>
      <p:sp>
        <p:nvSpPr>
          <p:cNvPr id="9" name="AutoShape 9"/>
          <p:cNvSpPr/>
          <p:nvPr/>
        </p:nvSpPr>
        <p:spPr>
          <a:xfrm>
            <a:off x="4191000" y="1308100"/>
            <a:ext cx="4699000" cy="20320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16666"/>
              </a:lnSpc>
              <a:defRPr/>
            </a:pPr>
            <a:r>
              <a:rPr lang="en-US" sz="1300" b="0" i="0" u="none" strike="noStrike">
                <a:solidFill>
                  <a:srgbClr val="14233C"/>
                </a:solidFill>
                <a:latin typeface="Noto Sans SC"/>
                <a:ea typeface="Noto Sans SC"/>
                <a:cs typeface="Noto Sans SC"/>
                <a:sym typeface="Noto Sans SC"/>
              </a:rPr>
              <a:t>The portal interface is built to handle dynamic user account data with real-time administrative capabilities, streamlining oversight of the relational user registry.</a:t>
            </a:r>
            <a:endParaRPr lang="en-US" sz="1100"/>
          </a:p>
          <a:p>
            <a:pPr marL="0" indent="0" algn="l">
              <a:lnSpc>
                <a:spcPct val="116666"/>
              </a:lnSpc>
            </a:pPr>
            <a:r>
              <a:rPr lang="en-US" sz="1300" b="1" i="0" u="none" strike="noStrike">
                <a:solidFill>
                  <a:srgbClr val="003366"/>
                </a:solidFill>
                <a:latin typeface="Noto Sans SC"/>
                <a:ea typeface="Noto Sans SC"/>
                <a:cs typeface="Noto Sans SC"/>
                <a:sym typeface="Noto Sans SC"/>
              </a:rPr>
              <a:t>• Data Matrix:</a:t>
            </a:r>
            <a:r>
              <a:rPr lang="en-US" sz="1300" b="0" i="0" u="none" strike="noStrike">
                <a:solidFill>
                  <a:srgbClr val="32465A"/>
                </a:solidFill>
                <a:latin typeface="Noto Sans SC"/>
                <a:ea typeface="Noto Sans SC"/>
                <a:cs typeface="Noto Sans SC"/>
                <a:sym typeface="Noto Sans SC"/>
              </a:rPr>
              <a:t>A sortable, searchable grid that centralizes active account variables, assigned system roles, and critical creation timestamps for quick reference.</a:t>
            </a:r>
          </a:p>
          <a:p>
            <a:pPr marL="0" indent="0" algn="l">
              <a:lnSpc>
                <a:spcPct val="116666"/>
              </a:lnSpc>
            </a:pPr>
            <a:r>
              <a:rPr lang="en-US" sz="1300" b="1" i="0" u="none" strike="noStrike">
                <a:solidFill>
                  <a:srgbClr val="003366"/>
                </a:solidFill>
                <a:latin typeface="Noto Sans SC"/>
                <a:ea typeface="Noto Sans SC"/>
                <a:cs typeface="Noto Sans SC"/>
                <a:sym typeface="Noto Sans SC"/>
              </a:rPr>
              <a:t>• Inline Actions:</a:t>
            </a:r>
            <a:r>
              <a:rPr lang="en-US" sz="1300" b="0" i="0" u="none" strike="noStrike">
                <a:solidFill>
                  <a:srgbClr val="32465A"/>
                </a:solidFill>
                <a:latin typeface="Noto Sans SC"/>
                <a:ea typeface="Noto Sans SC"/>
                <a:cs typeface="Noto Sans SC"/>
                <a:sym typeface="Noto Sans SC"/>
              </a:rPr>
              <a:t>Embedded functional controls deliver immediate entry updates and secure, trigger-based database deletion for efficient user lifecycle management.</a:t>
            </a:r>
          </a:p>
        </p:txBody>
      </p:sp>
      <p:sp>
        <p:nvSpPr>
          <p:cNvPr id="10" name="AutoShape 10"/>
          <p:cNvSpPr/>
          <p:nvPr/>
        </p:nvSpPr>
        <p:spPr>
          <a:xfrm>
            <a:off x="0" y="3594100"/>
            <a:ext cx="9144000" cy="1549400"/>
          </a:xfrm>
          <a:prstGeom prst="roundRect">
            <a:avLst>
              <a:gd name="adj" fmla="val 0"/>
            </a:avLst>
          </a:prstGeom>
          <a:solidFill>
            <a:srgbClr val="EBF5FF">
              <a:alpha val="90000"/>
            </a:srgbClr>
          </a:solidFill>
          <a:ln w="25400" cap="flat" cmpd="sng">
            <a:noFill/>
            <a:prstDash val="solid"/>
            <a:round/>
          </a:ln>
        </p:spPr>
        <p:txBody>
          <a:bodyPr vert="horz" wrap="square" lIns="63500" tIns="63500" rIns="63500" bIns="63500" rtlCol="0" anchor="ctr"/>
          <a:lstStyle/>
          <a:p>
            <a:pPr algn="ctr">
              <a:defRPr/>
            </a:pPr>
            <a:endParaRPr/>
          </a:p>
        </p:txBody>
      </p:sp>
      <p:sp>
        <p:nvSpPr>
          <p:cNvPr id="11" name="AutoShape 11"/>
          <p:cNvSpPr/>
          <p:nvPr/>
        </p:nvSpPr>
        <p:spPr>
          <a:xfrm>
            <a:off x="0" y="3594100"/>
            <a:ext cx="127000" cy="1549400"/>
          </a:xfrm>
          <a:prstGeom prst="roundRect">
            <a:avLst>
              <a:gd name="adj" fmla="val 0"/>
            </a:avLst>
          </a:prstGeom>
          <a:solidFill>
            <a:srgbClr val="003366">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2" name="AutoShape 12"/>
          <p:cNvSpPr/>
          <p:nvPr/>
        </p:nvSpPr>
        <p:spPr>
          <a:xfrm>
            <a:off x="203200" y="3594100"/>
            <a:ext cx="8864600" cy="15875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16666"/>
              </a:lnSpc>
              <a:defRPr/>
            </a:pPr>
            <a:r>
              <a:rPr lang="en-US" sz="1300" b="0" i="0" u="none" strike="noStrike">
                <a:solidFill>
                  <a:srgbClr val="14233C"/>
                </a:solidFill>
                <a:latin typeface="Noto Sans SC"/>
                <a:ea typeface="Noto Sans SC"/>
                <a:cs typeface="Noto Sans SC"/>
                <a:sym typeface="Noto Sans SC"/>
              </a:rPr>
              <a:t>This Database Management Portal serves as the command center for the relational user registry, translating complex database structures into an intuitive administrative experience. By presenting user data in a structured matrix and integrating secure inline operations, the portal empowers administrators to maintain data accuracy, enforce role-based access, and execute account modifications with confidence. This design leverages the strength of relational database principles to ensure scalability and reliability, making it a vital tool for managing the user ecosystem efficiently.</a:t>
            </a:r>
            <a:endParaRPr lang="en-US" sz="1100"/>
          </a:p>
        </p:txBody>
      </p:sp>
      <p:pic>
        <p:nvPicPr>
          <p:cNvPr id="13" name="Picture 13"/>
          <p:cNvPicPr>
            <a:picLocks noChangeAspect="1"/>
          </p:cNvPicPr>
          <p:nvPr/>
        </p:nvPicPr>
        <p:blipFill>
          <a:blip r:embed="rId4"/>
          <a:srcRect/>
          <a:stretch>
            <a:fillRect/>
          </a:stretch>
        </p:blipFill>
        <p:spPr>
          <a:xfrm>
            <a:off x="1146846" y="-76200"/>
            <a:ext cx="673100" cy="673100"/>
          </a:xfrm>
          <a:prstGeom prst="rect">
            <a:avLst/>
          </a:prstGeom>
          <a:noFill/>
          <a:ln w="25400" cap="flat" cmpd="sng">
            <a:noFill/>
            <a:prstDash val="solid"/>
            <a:round/>
          </a:ln>
        </p:spPr>
      </p:pic>
      <p:pic>
        <p:nvPicPr>
          <p:cNvPr id="14" name="Picture 14"/>
          <p:cNvPicPr>
            <a:picLocks noChangeAspect="1"/>
          </p:cNvPicPr>
          <p:nvPr/>
        </p:nvPicPr>
        <p:blipFill>
          <a:blip r:embed="rId5"/>
          <a:srcRect/>
          <a:stretch>
            <a:fillRect/>
          </a:stretch>
        </p:blipFill>
        <p:spPr>
          <a:xfrm>
            <a:off x="4254500" y="850900"/>
            <a:ext cx="355600" cy="355600"/>
          </a:xfrm>
          <a:prstGeom prst="rect">
            <a:avLst/>
          </a:prstGeom>
          <a:noFill/>
          <a:ln w="25400" cap="flat" cmpd="sng">
            <a:noFill/>
            <a:prstDash val="solid"/>
            <a:round/>
          </a:ln>
        </p:spPr>
      </p:pic>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8F8F8">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24094" y="285750"/>
            <a:ext cx="9144000" cy="7620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ctr">
              <a:lnSpc>
                <a:spcPct val="100000"/>
              </a:lnSpc>
              <a:defRPr/>
            </a:pPr>
            <a:r>
              <a:rPr lang="en-US" sz="3600" b="0" i="0" u="none" strike="noStrike" dirty="0">
                <a:solidFill>
                  <a:srgbClr val="092241"/>
                </a:solidFill>
                <a:effectLst>
                  <a:outerShdw blurRad="38100" dist="38100" dir="2700000" algn="tl" rotWithShape="0">
                    <a:srgbClr val="000000">
                      <a:alpha val="43100"/>
                    </a:srgbClr>
                  </a:outerShdw>
                </a:effectLst>
                <a:latin typeface="Archivo Black"/>
                <a:ea typeface="Archivo Black"/>
                <a:cs typeface="Archivo Black"/>
                <a:sym typeface="Archivo Black"/>
              </a:rPr>
              <a:t>Technical Challenge Resolution Matrix</a:t>
            </a:r>
            <a:endParaRPr lang="en-US" sz="1100" dirty="0"/>
          </a:p>
        </p:txBody>
      </p:sp>
      <p:sp>
        <p:nvSpPr>
          <p:cNvPr id="3" name="AutoShape 3"/>
          <p:cNvSpPr/>
          <p:nvPr/>
        </p:nvSpPr>
        <p:spPr>
          <a:xfrm>
            <a:off x="511048" y="1143000"/>
            <a:ext cx="3937000" cy="6350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ctr">
              <a:lnSpc>
                <a:spcPct val="100000"/>
              </a:lnSpc>
              <a:defRPr/>
            </a:pPr>
            <a:r>
              <a:rPr lang="en-US" sz="2800" b="1" i="0" u="none" strike="noStrike" dirty="0">
                <a:solidFill>
                  <a:srgbClr val="092241"/>
                </a:solidFill>
                <a:latin typeface="Archivo Narrow"/>
                <a:ea typeface="Archivo Narrow"/>
                <a:cs typeface="Archivo Narrow"/>
                <a:sym typeface="Archivo Narrow"/>
              </a:rPr>
              <a:t>Grid CLS</a:t>
            </a:r>
            <a:endParaRPr lang="en-US" sz="1100" dirty="0"/>
          </a:p>
        </p:txBody>
      </p:sp>
      <p:sp>
        <p:nvSpPr>
          <p:cNvPr id="4" name="AutoShape 4"/>
          <p:cNvSpPr/>
          <p:nvPr/>
        </p:nvSpPr>
        <p:spPr>
          <a:xfrm>
            <a:off x="584200" y="1809750"/>
            <a:ext cx="3937000" cy="1968500"/>
          </a:xfrm>
          <a:prstGeom prst="roundRect">
            <a:avLst>
              <a:gd name="adj" fmla="val 0"/>
            </a:avLst>
          </a:prstGeom>
          <a:noFill/>
          <a:ln w="25400" cap="flat" cmpd="sng">
            <a:noFill/>
            <a:prstDash val="solid"/>
            <a:round/>
          </a:ln>
        </p:spPr>
        <p:txBody>
          <a:bodyPr vert="horz" wrap="square" lIns="127000" tIns="101600" rIns="127000" bIns="101600" rtlCol="0" anchor="t" anchorCtr="0"/>
          <a:lstStyle/>
          <a:p>
            <a:pPr marL="0" indent="0" algn="l">
              <a:lnSpc>
                <a:spcPct val="108333"/>
              </a:lnSpc>
              <a:defRPr/>
            </a:pPr>
            <a:r>
              <a:rPr lang="en-US" sz="1400" b="1" i="0" u="none" strike="noStrike" dirty="0">
                <a:solidFill>
                  <a:srgbClr val="333333"/>
                </a:solidFill>
                <a:latin typeface="Manrope"/>
                <a:ea typeface="Manrope"/>
                <a:cs typeface="Manrope"/>
                <a:sym typeface="Manrope"/>
              </a:rPr>
              <a:t>Challenge</a:t>
            </a:r>
            <a:r>
              <a:rPr lang="en-US" sz="1400" b="1" i="0" u="none" strike="noStrike" dirty="0" smtClean="0">
                <a:solidFill>
                  <a:srgbClr val="333333"/>
                </a:solidFill>
                <a:latin typeface="Manrope"/>
                <a:ea typeface="Manrope"/>
                <a:cs typeface="Manrope"/>
                <a:sym typeface="Manrope"/>
              </a:rPr>
              <a:t>: </a:t>
            </a:r>
            <a:r>
              <a:rPr lang="en-US" sz="1400" b="0" i="0" u="none" strike="noStrike" dirty="0" smtClean="0">
                <a:solidFill>
                  <a:srgbClr val="333333"/>
                </a:solidFill>
                <a:latin typeface="Manrope"/>
                <a:ea typeface="Manrope"/>
                <a:cs typeface="Manrope"/>
                <a:sym typeface="Manrope"/>
              </a:rPr>
              <a:t>Dynamic </a:t>
            </a:r>
            <a:r>
              <a:rPr lang="en-US" sz="1400" b="0" i="0" u="none" strike="noStrike" dirty="0">
                <a:solidFill>
                  <a:srgbClr val="333333"/>
                </a:solidFill>
                <a:latin typeface="Manrope"/>
                <a:ea typeface="Manrope"/>
                <a:cs typeface="Manrope"/>
                <a:sym typeface="Manrope"/>
              </a:rPr>
              <a:t>dashboard grids shifted text containers unpredictably when backend payloads loaded slowly, causing disruptive layout instability for end-users.</a:t>
            </a:r>
            <a:endParaRPr lang="en-US" sz="1100" dirty="0"/>
          </a:p>
          <a:p>
            <a:pPr marL="0" indent="0" algn="l">
              <a:lnSpc>
                <a:spcPct val="108333"/>
              </a:lnSpc>
            </a:pPr>
            <a:r>
              <a:rPr lang="en-US" sz="1400" b="1" i="0" u="none" strike="noStrike" dirty="0">
                <a:solidFill>
                  <a:srgbClr val="333333"/>
                </a:solidFill>
                <a:latin typeface="Manrope"/>
                <a:ea typeface="Manrope"/>
                <a:cs typeface="Manrope"/>
                <a:sym typeface="Manrope"/>
              </a:rPr>
              <a:t>Resolution</a:t>
            </a:r>
            <a:r>
              <a:rPr lang="en-US" sz="1400" b="1" i="0" u="none" strike="noStrike" dirty="0" smtClean="0">
                <a:solidFill>
                  <a:srgbClr val="333333"/>
                </a:solidFill>
                <a:latin typeface="Manrope"/>
                <a:ea typeface="Manrope"/>
                <a:cs typeface="Manrope"/>
                <a:sym typeface="Manrope"/>
              </a:rPr>
              <a:t>: </a:t>
            </a:r>
            <a:r>
              <a:rPr lang="en-US" sz="1400" b="0" i="0" u="none" strike="noStrike" dirty="0" smtClean="0">
                <a:solidFill>
                  <a:srgbClr val="333333"/>
                </a:solidFill>
                <a:latin typeface="Manrope"/>
                <a:ea typeface="Manrope"/>
                <a:cs typeface="Manrope"/>
                <a:sym typeface="Manrope"/>
              </a:rPr>
              <a:t>Fixed </a:t>
            </a:r>
            <a:r>
              <a:rPr lang="en-US" sz="1400" b="0" i="0" u="none" strike="noStrike" dirty="0">
                <a:solidFill>
                  <a:srgbClr val="333333"/>
                </a:solidFill>
                <a:latin typeface="Manrope"/>
                <a:ea typeface="Manrope"/>
                <a:cs typeface="Manrope"/>
                <a:sym typeface="Manrope"/>
              </a:rPr>
              <a:t>exact </a:t>
            </a:r>
            <a:r>
              <a:rPr lang="en-US" sz="1400" b="0" i="0" u="none" strike="noStrike" dirty="0" err="1">
                <a:solidFill>
                  <a:srgbClr val="333333"/>
                </a:solidFill>
                <a:latin typeface="Manrope"/>
                <a:ea typeface="Manrope"/>
                <a:cs typeface="Manrope"/>
                <a:sym typeface="Manrope"/>
              </a:rPr>
              <a:t>minmax</a:t>
            </a:r>
            <a:r>
              <a:rPr lang="en-US" sz="1400" b="0" i="0" u="none" strike="noStrike" dirty="0">
                <a:solidFill>
                  <a:srgbClr val="333333"/>
                </a:solidFill>
                <a:latin typeface="Manrope"/>
                <a:ea typeface="Manrope"/>
                <a:cs typeface="Manrope"/>
                <a:sym typeface="Manrope"/>
              </a:rPr>
              <a:t> height properties (`min-h-[6rem]`) to pre-allocate screen layout coordinates before data ingestion, locking container positions and eliminating runtime shifts.</a:t>
            </a:r>
          </a:p>
        </p:txBody>
      </p:sp>
      <p:sp>
        <p:nvSpPr>
          <p:cNvPr id="5" name="AutoShape 5"/>
          <p:cNvSpPr/>
          <p:nvPr/>
        </p:nvSpPr>
        <p:spPr>
          <a:xfrm>
            <a:off x="4905248" y="1174750"/>
            <a:ext cx="3937000" cy="6350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ctr">
              <a:lnSpc>
                <a:spcPct val="100000"/>
              </a:lnSpc>
              <a:defRPr/>
            </a:pPr>
            <a:r>
              <a:rPr lang="en-US" sz="2800" b="1" i="0" u="none" strike="noStrike" dirty="0">
                <a:solidFill>
                  <a:srgbClr val="092241"/>
                </a:solidFill>
                <a:latin typeface="Archivo Narrow"/>
                <a:ea typeface="Archivo Narrow"/>
                <a:cs typeface="Archivo Narrow"/>
                <a:sym typeface="Archivo Narrow"/>
              </a:rPr>
              <a:t>Text Overflow</a:t>
            </a:r>
            <a:endParaRPr lang="en-US" sz="1100" dirty="0"/>
          </a:p>
        </p:txBody>
      </p:sp>
      <p:sp>
        <p:nvSpPr>
          <p:cNvPr id="6" name="AutoShape 6"/>
          <p:cNvSpPr/>
          <p:nvPr/>
        </p:nvSpPr>
        <p:spPr>
          <a:xfrm>
            <a:off x="4826000" y="1778000"/>
            <a:ext cx="3937000" cy="1968500"/>
          </a:xfrm>
          <a:prstGeom prst="roundRect">
            <a:avLst>
              <a:gd name="adj" fmla="val 0"/>
            </a:avLst>
          </a:prstGeom>
          <a:noFill/>
          <a:ln w="25400" cap="flat" cmpd="sng">
            <a:noFill/>
            <a:prstDash val="solid"/>
            <a:round/>
          </a:ln>
        </p:spPr>
        <p:txBody>
          <a:bodyPr vert="horz" wrap="square" lIns="127000" tIns="101600" rIns="127000" bIns="101600" rtlCol="0" anchor="t" anchorCtr="0"/>
          <a:lstStyle/>
          <a:p>
            <a:pPr marL="0" indent="0" algn="l">
              <a:lnSpc>
                <a:spcPct val="108333"/>
              </a:lnSpc>
              <a:defRPr/>
            </a:pPr>
            <a:r>
              <a:rPr lang="en-US" sz="1400" b="1" i="0" u="none" strike="noStrike" dirty="0">
                <a:solidFill>
                  <a:srgbClr val="333333"/>
                </a:solidFill>
                <a:latin typeface="Manrope"/>
                <a:ea typeface="Manrope"/>
                <a:cs typeface="Manrope"/>
                <a:sym typeface="Manrope"/>
              </a:rPr>
              <a:t>Challenge</a:t>
            </a:r>
            <a:r>
              <a:rPr lang="en-US" sz="1400" b="1" i="0" u="none" strike="noStrike" dirty="0" smtClean="0">
                <a:solidFill>
                  <a:srgbClr val="333333"/>
                </a:solidFill>
                <a:latin typeface="Manrope"/>
                <a:ea typeface="Manrope"/>
                <a:cs typeface="Manrope"/>
                <a:sym typeface="Manrope"/>
              </a:rPr>
              <a:t>: </a:t>
            </a:r>
            <a:r>
              <a:rPr lang="en-US" sz="1400" b="0" i="0" u="none" strike="noStrike" dirty="0" smtClean="0">
                <a:solidFill>
                  <a:srgbClr val="333333"/>
                </a:solidFill>
                <a:latin typeface="Manrope"/>
                <a:ea typeface="Manrope"/>
                <a:cs typeface="Manrope"/>
                <a:sym typeface="Manrope"/>
              </a:rPr>
              <a:t>Unbroken </a:t>
            </a:r>
            <a:r>
              <a:rPr lang="en-US" sz="1400" b="0" i="0" u="none" strike="noStrike" dirty="0">
                <a:solidFill>
                  <a:srgbClr val="333333"/>
                </a:solidFill>
                <a:latin typeface="Manrope"/>
                <a:ea typeface="Manrope"/>
                <a:cs typeface="Manrope"/>
                <a:sym typeface="Manrope"/>
              </a:rPr>
              <a:t>long strings in user messages broke active chat windows, pushing navigation sidebars off-screen and breaking the responsive layout structure.</a:t>
            </a:r>
            <a:endParaRPr lang="en-US" sz="1100" dirty="0"/>
          </a:p>
          <a:p>
            <a:pPr marL="0" indent="0" algn="l">
              <a:lnSpc>
                <a:spcPct val="108333"/>
              </a:lnSpc>
            </a:pPr>
            <a:r>
              <a:rPr lang="en-US" sz="1400" b="1" i="0" u="none" strike="noStrike" dirty="0">
                <a:solidFill>
                  <a:srgbClr val="333333"/>
                </a:solidFill>
                <a:latin typeface="Manrope"/>
                <a:ea typeface="Manrope"/>
                <a:cs typeface="Manrope"/>
                <a:sym typeface="Manrope"/>
              </a:rPr>
              <a:t>Resolution</a:t>
            </a:r>
            <a:r>
              <a:rPr lang="en-US" sz="1400" b="1" i="0" u="none" strike="noStrike" dirty="0" smtClean="0">
                <a:solidFill>
                  <a:srgbClr val="333333"/>
                </a:solidFill>
                <a:latin typeface="Manrope"/>
                <a:ea typeface="Manrope"/>
                <a:cs typeface="Manrope"/>
                <a:sym typeface="Manrope"/>
              </a:rPr>
              <a:t>: </a:t>
            </a:r>
            <a:r>
              <a:rPr lang="en-US" sz="1400" b="0" i="0" u="none" strike="noStrike" dirty="0" smtClean="0">
                <a:solidFill>
                  <a:srgbClr val="333333"/>
                </a:solidFill>
                <a:latin typeface="Manrope"/>
                <a:ea typeface="Manrope"/>
                <a:cs typeface="Manrope"/>
                <a:sym typeface="Manrope"/>
              </a:rPr>
              <a:t>Applied </a:t>
            </a:r>
            <a:r>
              <a:rPr lang="en-US" sz="1400" b="0" i="0" u="none" strike="noStrike" dirty="0">
                <a:solidFill>
                  <a:srgbClr val="333333"/>
                </a:solidFill>
                <a:latin typeface="Manrope"/>
                <a:ea typeface="Manrope"/>
                <a:cs typeface="Manrope"/>
                <a:sym typeface="Manrope"/>
              </a:rPr>
              <a:t>strict </a:t>
            </a:r>
            <a:r>
              <a:rPr lang="en-US" sz="1400" b="0" i="0" u="none" strike="noStrike" dirty="0" smtClean="0">
                <a:solidFill>
                  <a:srgbClr val="333333"/>
                </a:solidFill>
                <a:latin typeface="Manrope"/>
                <a:ea typeface="Manrope"/>
                <a:cs typeface="Manrope"/>
                <a:sym typeface="Manrope"/>
              </a:rPr>
              <a:t>flex box </a:t>
            </a:r>
            <a:r>
              <a:rPr lang="en-US" sz="1400" b="0" i="0" u="none" strike="noStrike" dirty="0">
                <a:solidFill>
                  <a:srgbClr val="333333"/>
                </a:solidFill>
                <a:latin typeface="Manrope"/>
                <a:ea typeface="Manrope"/>
                <a:cs typeface="Manrope"/>
                <a:sym typeface="Manrope"/>
              </a:rPr>
              <a:t>constraints paired with absolute `word-break: break-word` style wrappers. This forced clean text stacking within fixed bounds, restoring UI reliability.</a:t>
            </a:r>
          </a:p>
        </p:txBody>
      </p:sp>
      <p:sp>
        <p:nvSpPr>
          <p:cNvPr id="7" name="AutoShape 7"/>
          <p:cNvSpPr/>
          <p:nvPr/>
        </p:nvSpPr>
        <p:spPr>
          <a:xfrm>
            <a:off x="663448" y="4064000"/>
            <a:ext cx="8178800" cy="1079500"/>
          </a:xfrm>
          <a:prstGeom prst="roundRect">
            <a:avLst>
              <a:gd name="adj" fmla="val 0"/>
            </a:avLst>
          </a:prstGeom>
          <a:solidFill>
            <a:srgbClr val="092241"/>
          </a:solidFill>
          <a:ln w="25400" cap="flat" cmpd="sng">
            <a:noFill/>
            <a:prstDash val="solid"/>
            <a:round/>
          </a:ln>
        </p:spPr>
        <p:txBody>
          <a:bodyPr vert="horz" wrap="square" lIns="127000" tIns="101600" rIns="127000" bIns="101600" rtlCol="0" anchor="ctr" anchorCtr="0"/>
          <a:lstStyle/>
          <a:p>
            <a:pPr marL="0" indent="0" algn="l">
              <a:lnSpc>
                <a:spcPct val="108333"/>
              </a:lnSpc>
              <a:defRPr/>
            </a:pPr>
            <a:r>
              <a:rPr lang="en-US" sz="1400" b="1" i="0" u="none" strike="noStrike" dirty="0">
                <a:solidFill>
                  <a:schemeClr val="tx2"/>
                </a:solidFill>
                <a:latin typeface="Manrope"/>
                <a:ea typeface="Manrope"/>
                <a:cs typeface="Manrope"/>
                <a:sym typeface="Manrope"/>
              </a:rPr>
              <a:t>Key Outcome</a:t>
            </a:r>
            <a:r>
              <a:rPr lang="en-US" sz="1400" b="1" i="0" u="none" strike="noStrike" dirty="0" smtClean="0">
                <a:solidFill>
                  <a:schemeClr val="tx2"/>
                </a:solidFill>
                <a:latin typeface="Manrope"/>
                <a:ea typeface="Manrope"/>
                <a:cs typeface="Manrope"/>
                <a:sym typeface="Manrope"/>
              </a:rPr>
              <a:t>: </a:t>
            </a:r>
            <a:r>
              <a:rPr lang="en-US" sz="1400" b="0" i="0" u="none" strike="noStrike" dirty="0" smtClean="0">
                <a:solidFill>
                  <a:schemeClr val="tx2"/>
                </a:solidFill>
                <a:latin typeface="Manrope"/>
                <a:ea typeface="Manrope"/>
                <a:cs typeface="Manrope"/>
                <a:sym typeface="Manrope"/>
              </a:rPr>
              <a:t>These </a:t>
            </a:r>
            <a:r>
              <a:rPr lang="en-US" sz="1400" b="0" i="0" u="none" strike="noStrike" dirty="0">
                <a:solidFill>
                  <a:schemeClr val="tx2"/>
                </a:solidFill>
                <a:latin typeface="Manrope"/>
                <a:ea typeface="Manrope"/>
                <a:cs typeface="Manrope"/>
                <a:sym typeface="Manrope"/>
              </a:rPr>
              <a:t>targeted engineering solutions addressed critical production hurdles head-on. By proactively defining layout boundaries and enforcing text rendering rules, we delivered a stable, predictable interface that maintains performance and usability even under edge-case data conditions.</a:t>
            </a:r>
            <a:endParaRPr lang="en-US" sz="1100" dirty="0">
              <a:solidFill>
                <a:schemeClr val="tx2"/>
              </a:solidFill>
            </a:endParaRPr>
          </a:p>
        </p:txBody>
      </p:sp>
      <p:pic>
        <p:nvPicPr>
          <p:cNvPr id="8" name="Picture 7"/>
          <p:cNvPicPr>
            <a:picLocks noChangeAspect="1"/>
          </p:cNvPicPr>
          <p:nvPr/>
        </p:nvPicPr>
        <p:blipFill>
          <a:blip r:embed="rId3"/>
          <a:stretch>
            <a:fillRect/>
          </a:stretch>
        </p:blipFill>
        <p:spPr>
          <a:xfrm>
            <a:off x="5285814" y="1365250"/>
            <a:ext cx="352116" cy="352116"/>
          </a:xfrm>
          <a:prstGeom prst="rect">
            <a:avLst/>
          </a:prstGeom>
        </p:spPr>
      </p:pic>
      <p:pic>
        <p:nvPicPr>
          <p:cNvPr id="9" name="Picture 8"/>
          <p:cNvPicPr>
            <a:picLocks noChangeAspect="1"/>
          </p:cNvPicPr>
          <p:nvPr/>
        </p:nvPicPr>
        <p:blipFill>
          <a:blip r:embed="rId4"/>
          <a:stretch>
            <a:fillRect/>
          </a:stretch>
        </p:blipFill>
        <p:spPr>
          <a:xfrm flipH="1">
            <a:off x="1287890" y="1333500"/>
            <a:ext cx="342355" cy="342355"/>
          </a:xfrm>
          <a:prstGeom prst="rect">
            <a:avLst/>
          </a:prstGeom>
        </p:spPr>
      </p:pic>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8F8F8">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1224614" y="356106"/>
            <a:ext cx="5981700" cy="993213"/>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ctr">
              <a:lnSpc>
                <a:spcPct val="91666"/>
              </a:lnSpc>
              <a:defRPr/>
            </a:pPr>
            <a:r>
              <a:rPr lang="en-US" sz="3600" b="0" i="0" u="none" strike="noStrike" dirty="0">
                <a:solidFill>
                  <a:srgbClr val="092241"/>
                </a:solidFill>
                <a:effectLst>
                  <a:outerShdw blurRad="38100" dist="38100" dir="2700000" algn="tl" rotWithShape="0">
                    <a:srgbClr val="000000">
                      <a:alpha val="43100"/>
                    </a:srgbClr>
                  </a:outerShdw>
                </a:effectLst>
                <a:latin typeface="Arial Black"/>
                <a:ea typeface="Arial Black"/>
                <a:cs typeface="Arial Black"/>
                <a:sym typeface="Arial Black"/>
              </a:rPr>
              <a:t>Strategic Growth &amp; Conclusions</a:t>
            </a:r>
            <a:endParaRPr lang="en-US" sz="1100" dirty="0"/>
          </a:p>
        </p:txBody>
      </p:sp>
      <p:sp>
        <p:nvSpPr>
          <p:cNvPr id="3" name="AutoShape 3"/>
          <p:cNvSpPr/>
          <p:nvPr/>
        </p:nvSpPr>
        <p:spPr>
          <a:xfrm>
            <a:off x="4533928" y="1545626"/>
            <a:ext cx="4445000" cy="2984500"/>
          </a:xfrm>
          <a:prstGeom prst="roundRect">
            <a:avLst>
              <a:gd name="adj" fmla="val 0"/>
            </a:avLst>
          </a:prstGeom>
          <a:noFill/>
          <a:ln w="25400" cap="flat" cmpd="sng">
            <a:noFill/>
            <a:prstDash val="solid"/>
            <a:round/>
          </a:ln>
        </p:spPr>
        <p:txBody>
          <a:bodyPr vert="horz" wrap="square" lIns="127000" tIns="127000" rIns="127000" bIns="127000" rtlCol="0" anchor="t" anchorCtr="0"/>
          <a:lstStyle/>
          <a:p>
            <a:pPr marL="0" indent="0" algn="just">
              <a:lnSpc>
                <a:spcPct val="125000"/>
              </a:lnSpc>
              <a:defRPr/>
            </a:pPr>
            <a:r>
              <a:rPr lang="en-US" sz="1800" b="1" i="0" u="none" strike="noStrike" dirty="0">
                <a:solidFill>
                  <a:srgbClr val="092241"/>
                </a:solidFill>
                <a:latin typeface="Noto Sans SC"/>
                <a:ea typeface="Noto Sans SC"/>
                <a:cs typeface="Noto Sans SC"/>
                <a:sym typeface="Noto Sans SC"/>
              </a:rPr>
              <a:t>Areas for Improvement</a:t>
            </a:r>
            <a:endParaRPr lang="en-US" sz="1100" dirty="0"/>
          </a:p>
          <a:p>
            <a:pPr marL="0" indent="0" algn="just">
              <a:lnSpc>
                <a:spcPct val="125000"/>
              </a:lnSpc>
            </a:pPr>
            <a:endParaRPr lang="en-US" sz="1100" dirty="0"/>
          </a:p>
          <a:p>
            <a:pPr marL="0" indent="0" algn="just">
              <a:lnSpc>
                <a:spcPct val="125000"/>
              </a:lnSpc>
            </a:pPr>
            <a:r>
              <a:rPr lang="en-US" sz="1400" b="0" i="0" u="none" strike="noStrike" dirty="0">
                <a:solidFill>
                  <a:srgbClr val="333333"/>
                </a:solidFill>
                <a:latin typeface="Noto Sans SC"/>
                <a:ea typeface="Noto Sans SC"/>
                <a:cs typeface="Noto Sans SC"/>
                <a:sym typeface="Noto Sans SC"/>
              </a:rPr>
              <a:t>Future iterations could explore more advanced data visualization, enhanced mobile experiences, and potentially migrating to a client-server architecture for broader scalability. These enhancements would elevate the system's usability and adaptability to meet evolving user needs and business growth requirements.</a:t>
            </a:r>
          </a:p>
        </p:txBody>
      </p:sp>
      <p:sp>
        <p:nvSpPr>
          <p:cNvPr id="4" name="AutoShape 4"/>
          <p:cNvSpPr/>
          <p:nvPr/>
        </p:nvSpPr>
        <p:spPr>
          <a:xfrm>
            <a:off x="230777" y="1545626"/>
            <a:ext cx="4229100" cy="3340100"/>
          </a:xfrm>
          <a:prstGeom prst="roundRect">
            <a:avLst>
              <a:gd name="adj" fmla="val 0"/>
            </a:avLst>
          </a:prstGeom>
          <a:noFill/>
          <a:ln w="25400" cap="flat" cmpd="sng">
            <a:noFill/>
            <a:prstDash val="solid"/>
            <a:round/>
          </a:ln>
        </p:spPr>
        <p:txBody>
          <a:bodyPr vert="horz" wrap="square" lIns="127000" tIns="127000" rIns="127000" bIns="127000" rtlCol="0" anchor="t" anchorCtr="0"/>
          <a:lstStyle/>
          <a:p>
            <a:pPr marL="0" indent="0" algn="just">
              <a:lnSpc>
                <a:spcPct val="125000"/>
              </a:lnSpc>
              <a:defRPr/>
            </a:pPr>
            <a:r>
              <a:rPr lang="en-US" sz="1800" b="1" i="0" u="none" strike="noStrike" dirty="0">
                <a:solidFill>
                  <a:srgbClr val="092241"/>
                </a:solidFill>
                <a:latin typeface="Noto Sans SC"/>
                <a:ea typeface="Noto Sans SC"/>
                <a:cs typeface="Noto Sans SC"/>
                <a:sym typeface="Noto Sans SC"/>
              </a:rPr>
              <a:t>Achievements</a:t>
            </a:r>
            <a:endParaRPr lang="en-US" sz="1100" dirty="0"/>
          </a:p>
          <a:p>
            <a:pPr marL="0" indent="0" algn="just">
              <a:lnSpc>
                <a:spcPct val="125000"/>
              </a:lnSpc>
            </a:pPr>
            <a:endParaRPr lang="en-US" sz="1100" dirty="0"/>
          </a:p>
          <a:p>
            <a:pPr marL="0" indent="0" algn="just">
              <a:lnSpc>
                <a:spcPct val="125000"/>
              </a:lnSpc>
            </a:pPr>
            <a:r>
              <a:rPr lang="en-US" sz="1400" b="0" i="0" u="none" strike="noStrike" dirty="0">
                <a:solidFill>
                  <a:srgbClr val="333333"/>
                </a:solidFill>
                <a:latin typeface="Noto Sans SC"/>
                <a:ea typeface="Noto Sans SC"/>
                <a:cs typeface="Noto Sans SC"/>
                <a:sym typeface="Noto Sans SC"/>
              </a:rPr>
              <a:t>Successfully delivered a full-stack Learning Management System (LMS) with Role-Based Access Control (RBAC), asynchronous communication capabilities, and a fully responsive user interface. This implementation effectively demonstrated the seamless synchronization of stable, reliable databases with dynamic, responsive front-end interfaces, ensuring both performance and a consistent user experience across all devices.</a:t>
            </a:r>
          </a:p>
        </p:txBody>
      </p:sp>
      <p:pic>
        <p:nvPicPr>
          <p:cNvPr id="12" name="Picture 12"/>
          <p:cNvPicPr>
            <a:picLocks noChangeAspect="1"/>
          </p:cNvPicPr>
          <p:nvPr/>
        </p:nvPicPr>
        <p:blipFill>
          <a:blip r:embed="rId3"/>
          <a:srcRect/>
          <a:stretch>
            <a:fillRect/>
          </a:stretch>
        </p:blipFill>
        <p:spPr>
          <a:xfrm>
            <a:off x="2192325" y="915052"/>
            <a:ext cx="392466" cy="392466"/>
          </a:xfrm>
          <a:prstGeom prst="rect">
            <a:avLst/>
          </a:prstGeom>
          <a:noFill/>
          <a:ln w="25400" cap="flat" cmpd="sng">
            <a:noFill/>
            <a:prstDash val="solid"/>
            <a:round/>
          </a:ln>
        </p:spPr>
      </p:pic>
      <p:pic>
        <p:nvPicPr>
          <p:cNvPr id="13" name="Picture 13"/>
          <p:cNvPicPr>
            <a:picLocks noChangeAspect="1"/>
          </p:cNvPicPr>
          <p:nvPr/>
        </p:nvPicPr>
        <p:blipFill>
          <a:blip r:embed="rId4"/>
          <a:srcRect/>
          <a:stretch>
            <a:fillRect/>
          </a:stretch>
        </p:blipFill>
        <p:spPr>
          <a:xfrm>
            <a:off x="7451271" y="343552"/>
            <a:ext cx="1282700" cy="1282700"/>
          </a:xfrm>
          <a:prstGeom prst="rect">
            <a:avLst/>
          </a:prstGeom>
          <a:noFill/>
          <a:ln w="25400" cap="flat" cmpd="sng">
            <a:noFill/>
            <a:prstDash val="solid"/>
            <a:round/>
          </a:ln>
        </p:spPr>
      </p:pic>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8F8F8">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3987800" y="533400"/>
            <a:ext cx="101600" cy="101600"/>
          </a:xfrm>
          <a:prstGeom prst="ellipse">
            <a:avLst/>
          </a:prstGeom>
          <a:solidFill>
            <a:srgbClr val="6194E6">
              <a:alpha val="80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4368800" y="533400"/>
            <a:ext cx="101600" cy="101600"/>
          </a:xfrm>
          <a:prstGeom prst="ellipse">
            <a:avLst/>
          </a:prstGeom>
          <a:solidFill>
            <a:srgbClr val="6194E6">
              <a:alpha val="80000"/>
            </a:srgbClr>
          </a:solidFill>
          <a:ln w="25400" cap="flat" cmpd="sng">
            <a:noFill/>
            <a:prstDash val="solid"/>
            <a:round/>
          </a:ln>
        </p:spPr>
        <p:txBody>
          <a:bodyPr vert="horz" wrap="square" lIns="63500" tIns="63500" rIns="63500" bIns="63500" rtlCol="0" anchor="ctr"/>
          <a:lstStyle/>
          <a:p>
            <a:pPr algn="ctr">
              <a:defRPr/>
            </a:pPr>
            <a:endParaRPr/>
          </a:p>
        </p:txBody>
      </p:sp>
      <p:sp>
        <p:nvSpPr>
          <p:cNvPr id="4" name="AutoShape 4"/>
          <p:cNvSpPr/>
          <p:nvPr/>
        </p:nvSpPr>
        <p:spPr>
          <a:xfrm>
            <a:off x="4749800" y="533400"/>
            <a:ext cx="101600" cy="101600"/>
          </a:xfrm>
          <a:prstGeom prst="ellipse">
            <a:avLst/>
          </a:prstGeom>
          <a:solidFill>
            <a:srgbClr val="6194E6">
              <a:alpha val="80000"/>
            </a:srgbClr>
          </a:solidFill>
          <a:ln w="25400" cap="flat" cmpd="sng">
            <a:noFill/>
            <a:prstDash val="solid"/>
            <a:round/>
          </a:ln>
        </p:spPr>
        <p:txBody>
          <a:bodyPr vert="horz" wrap="square" lIns="63500" tIns="63500" rIns="63500" bIns="63500" rtlCol="0" anchor="ctr"/>
          <a:lstStyle/>
          <a:p>
            <a:pPr algn="ctr">
              <a:defRPr/>
            </a:pPr>
            <a:endParaRPr/>
          </a:p>
        </p:txBody>
      </p:sp>
      <p:sp>
        <p:nvSpPr>
          <p:cNvPr id="5" name="AutoShape 5"/>
          <p:cNvSpPr/>
          <p:nvPr/>
        </p:nvSpPr>
        <p:spPr>
          <a:xfrm>
            <a:off x="3987800" y="914400"/>
            <a:ext cx="101600" cy="101600"/>
          </a:xfrm>
          <a:prstGeom prst="ellipse">
            <a:avLst/>
          </a:prstGeom>
          <a:solidFill>
            <a:srgbClr val="6194E6">
              <a:alpha val="80000"/>
            </a:srgbClr>
          </a:solidFill>
          <a:ln w="25400" cap="flat" cmpd="sng">
            <a:noFill/>
            <a:prstDash val="solid"/>
            <a:round/>
          </a:ln>
        </p:spPr>
        <p:txBody>
          <a:bodyPr vert="horz" wrap="square" lIns="63500" tIns="63500" rIns="63500" bIns="63500" rtlCol="0" anchor="ctr"/>
          <a:lstStyle/>
          <a:p>
            <a:pPr algn="ctr">
              <a:defRPr/>
            </a:pPr>
            <a:endParaRPr/>
          </a:p>
        </p:txBody>
      </p:sp>
      <p:sp>
        <p:nvSpPr>
          <p:cNvPr id="6" name="AutoShape 6"/>
          <p:cNvSpPr/>
          <p:nvPr/>
        </p:nvSpPr>
        <p:spPr>
          <a:xfrm>
            <a:off x="4368800" y="914400"/>
            <a:ext cx="101600" cy="101600"/>
          </a:xfrm>
          <a:prstGeom prst="ellipse">
            <a:avLst/>
          </a:prstGeom>
          <a:solidFill>
            <a:srgbClr val="6194E6">
              <a:alpha val="80000"/>
            </a:srgbClr>
          </a:solidFill>
          <a:ln w="25400" cap="flat" cmpd="sng">
            <a:noFill/>
            <a:prstDash val="solid"/>
            <a:round/>
          </a:ln>
        </p:spPr>
        <p:txBody>
          <a:bodyPr vert="horz" wrap="square" lIns="63500" tIns="63500" rIns="63500" bIns="63500" rtlCol="0" anchor="ctr"/>
          <a:lstStyle/>
          <a:p>
            <a:pPr algn="ctr">
              <a:defRPr/>
            </a:pPr>
            <a:endParaRPr/>
          </a:p>
        </p:txBody>
      </p:sp>
      <p:sp>
        <p:nvSpPr>
          <p:cNvPr id="7" name="AutoShape 7"/>
          <p:cNvSpPr/>
          <p:nvPr/>
        </p:nvSpPr>
        <p:spPr>
          <a:xfrm>
            <a:off x="4749800" y="914400"/>
            <a:ext cx="101600" cy="101600"/>
          </a:xfrm>
          <a:prstGeom prst="ellipse">
            <a:avLst/>
          </a:prstGeom>
          <a:solidFill>
            <a:srgbClr val="6194E6">
              <a:alpha val="80000"/>
            </a:srgbClr>
          </a:solidFill>
          <a:ln w="25400" cap="flat" cmpd="sng">
            <a:noFill/>
            <a:prstDash val="solid"/>
            <a:round/>
          </a:ln>
        </p:spPr>
        <p:txBody>
          <a:bodyPr vert="horz" wrap="square" lIns="63500" tIns="63500" rIns="63500" bIns="63500" rtlCol="0" anchor="ctr"/>
          <a:lstStyle/>
          <a:p>
            <a:pPr algn="ctr">
              <a:defRPr/>
            </a:pPr>
            <a:endParaRPr/>
          </a:p>
        </p:txBody>
      </p:sp>
      <p:sp>
        <p:nvSpPr>
          <p:cNvPr id="10" name="AutoShape 10"/>
          <p:cNvSpPr/>
          <p:nvPr/>
        </p:nvSpPr>
        <p:spPr>
          <a:xfrm rot="10800000">
            <a:off x="4089400" y="0"/>
            <a:ext cx="5080000" cy="5080000"/>
          </a:xfrm>
          <a:prstGeom prst="rtTriangle">
            <a:avLst/>
          </a:prstGeom>
          <a:solidFill>
            <a:srgbClr val="024476"/>
          </a:solidFill>
          <a:ln w="25400" cap="flat" cmpd="sng">
            <a:noFill/>
            <a:prstDash val="solid"/>
            <a:round/>
          </a:ln>
        </p:spPr>
        <p:txBody>
          <a:bodyPr vert="horz" wrap="square" lIns="63500" tIns="63500" rIns="63500" bIns="63500" rtlCol="0" anchor="ctr"/>
          <a:lstStyle/>
          <a:p>
            <a:pPr algn="ctr">
              <a:defRPr/>
            </a:pPr>
            <a:endParaRPr/>
          </a:p>
        </p:txBody>
      </p:sp>
      <p:sp>
        <p:nvSpPr>
          <p:cNvPr id="11" name="AutoShape 11"/>
          <p:cNvSpPr/>
          <p:nvPr/>
        </p:nvSpPr>
        <p:spPr>
          <a:xfrm rot="1620000" flipV="1">
            <a:off x="8026400" y="2971800"/>
            <a:ext cx="1524000" cy="381000"/>
          </a:xfrm>
          <a:prstGeom prst="roundRect">
            <a:avLst>
              <a:gd name="adj" fmla="val 33333"/>
            </a:avLst>
          </a:prstGeom>
          <a:solidFill>
            <a:srgbClr val="D0D3D6">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3" name="AutoShape 13"/>
          <p:cNvSpPr/>
          <p:nvPr/>
        </p:nvSpPr>
        <p:spPr>
          <a:xfrm rot="1680000" flipV="1">
            <a:off x="7721600" y="2438400"/>
            <a:ext cx="2032000" cy="304800"/>
          </a:xfrm>
          <a:prstGeom prst="roundRect">
            <a:avLst>
              <a:gd name="adj" fmla="val 50000"/>
            </a:avLst>
          </a:prstGeom>
          <a:solidFill>
            <a:srgbClr val="6194E6">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17" name="Picture 16"/>
          <p:cNvPicPr>
            <a:picLocks noChangeAspect="1"/>
          </p:cNvPicPr>
          <p:nvPr/>
        </p:nvPicPr>
        <p:blipFill>
          <a:blip r:embed="rId3"/>
          <a:stretch>
            <a:fillRect/>
          </a:stretch>
        </p:blipFill>
        <p:spPr>
          <a:xfrm>
            <a:off x="3420427" y="1523021"/>
            <a:ext cx="3557560" cy="3557560"/>
          </a:xfrm>
          <a:prstGeom prst="rect">
            <a:avLst/>
          </a:prstGeom>
        </p:spPr>
      </p:pic>
      <p:pic>
        <p:nvPicPr>
          <p:cNvPr id="18" name="Picture 17"/>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721473" y="0"/>
            <a:ext cx="1447866" cy="1426148"/>
          </a:xfrm>
          <a:prstGeom prst="rect">
            <a:avLst/>
          </a:prstGeom>
        </p:spPr>
      </p:pic>
      <p:sp>
        <p:nvSpPr>
          <p:cNvPr id="12" name="AutoShape 12"/>
          <p:cNvSpPr/>
          <p:nvPr/>
        </p:nvSpPr>
        <p:spPr>
          <a:xfrm flipV="1">
            <a:off x="7810406" y="93871"/>
            <a:ext cx="1270000" cy="1270000"/>
          </a:xfrm>
          <a:prstGeom prst="ellipse">
            <a:avLst/>
          </a:prstGeom>
          <a:noFill/>
          <a:ln w="25400" cap="flat" cmpd="sng">
            <a:solidFill>
              <a:srgbClr val="F8F8F8">
                <a:alpha val="90000"/>
              </a:srgbClr>
            </a:solidFill>
            <a:prstDash val="dash"/>
            <a:round/>
          </a:ln>
        </p:spPr>
        <p:txBody>
          <a:bodyPr vert="horz" wrap="square" lIns="63500" tIns="63500" rIns="63500" bIns="63500" rtlCol="0" anchor="ctr"/>
          <a:lstStyle/>
          <a:p>
            <a:pPr algn="ctr">
              <a:defRPr/>
            </a:pPr>
            <a:endParaRPr/>
          </a:p>
        </p:txBody>
      </p:sp>
      <p:pic>
        <p:nvPicPr>
          <p:cNvPr id="19" name="Picture 18"/>
          <p:cNvPicPr>
            <a:picLocks noChangeAspect="1"/>
          </p:cNvPicPr>
          <p:nvPr/>
        </p:nvPicPr>
        <p:blipFill>
          <a:blip r:embed="rId5"/>
          <a:stretch>
            <a:fillRect/>
          </a:stretch>
        </p:blipFill>
        <p:spPr>
          <a:xfrm flipH="1">
            <a:off x="104108" y="1695031"/>
            <a:ext cx="3448469" cy="3448469"/>
          </a:xfrm>
          <a:prstGeom prst="rect">
            <a:avLst/>
          </a:prstGeom>
        </p:spPr>
      </p:pic>
    </p:spTree>
  </p:cSld>
  <p:clrMapOvr>
    <a:masterClrMapping/>
  </p:clrMapOvr>
  <p:timing>
    <p:tnLst>
      <p:par>
        <p:cTn id="1" dur="indefinite" restart="never" nodeType="tmRoot"/>
      </p:par>
    </p:tnLst>
  </p:timing>
</p:sld>
</file>

<file path=ppt/theme/theme1.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171</TotalTime>
  <Words>2735</Words>
  <Application>Microsoft Office PowerPoint</Application>
  <PresentationFormat>On-screen Show (16:9)</PresentationFormat>
  <Paragraphs>159</Paragraphs>
  <Slides>17</Slides>
  <Notes>17</Notes>
  <HiddenSlides>0</HiddenSlides>
  <MMClips>0</MMClips>
  <ScaleCrop>false</ScaleCrop>
  <HeadingPairs>
    <vt:vector size="6" baseType="variant">
      <vt:variant>
        <vt:lpstr>Fonts Used</vt:lpstr>
      </vt:variant>
      <vt:variant>
        <vt:i4>10</vt:i4>
      </vt:variant>
      <vt:variant>
        <vt:lpstr>Theme</vt:lpstr>
      </vt:variant>
      <vt:variant>
        <vt:i4>2</vt:i4>
      </vt:variant>
      <vt:variant>
        <vt:lpstr>Slide Titles</vt:lpstr>
      </vt:variant>
      <vt:variant>
        <vt:i4>17</vt:i4>
      </vt:variant>
    </vt:vector>
  </HeadingPairs>
  <TitlesOfParts>
    <vt:vector size="29" baseType="lpstr">
      <vt:lpstr>Archivo Black</vt:lpstr>
      <vt:lpstr>Archivo Narrow</vt:lpstr>
      <vt:lpstr>Manrope</vt:lpstr>
      <vt:lpstr>Noto Sans SC</vt:lpstr>
      <vt:lpstr>SimSun</vt:lpstr>
      <vt:lpstr>Arial</vt:lpstr>
      <vt:lpstr>Arial Black</vt:lpstr>
      <vt:lpstr>Showcard Gothic</vt:lpstr>
      <vt:lpstr>Times New Roman</vt:lpstr>
      <vt:lpstr>Wingdings</vt:lpstr>
      <vt:lpstr>Office 主题​​</vt:lpstr>
      <vt:lpstr>默认主题</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cp:lastModifiedBy>Microsoft account</cp:lastModifiedBy>
  <cp:revision>17</cp:revision>
  <dcterms:modified xsi:type="dcterms:W3CDTF">2026-05-29T19:53:34Z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IGC">
    <vt:lpwstr>{"Label":"1","ContentProducer":"001191110102MACQD9K64010000","ProduceID":"7645354521725012922","ReservedCode1":"","ContentPropagator":"","PropagateID":"","ReservedCode2":""}</vt:lpwstr>
  </property>
</Properties>
</file>